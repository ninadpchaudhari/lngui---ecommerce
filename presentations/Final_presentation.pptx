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410" r:id="rId3"/>
    <p:sldId id="416" r:id="rId4"/>
    <p:sldId id="417" r:id="rId5"/>
    <p:sldId id="414" r:id="rId6"/>
    <p:sldId id="411" r:id="rId7"/>
    <p:sldId id="409" r:id="rId8"/>
    <p:sldId id="408" r:id="rId9"/>
    <p:sldId id="379" r:id="rId10"/>
    <p:sldId id="397" r:id="rId11"/>
    <p:sldId id="396" r:id="rId12"/>
    <p:sldId id="385" r:id="rId13"/>
    <p:sldId id="386" r:id="rId14"/>
    <p:sldId id="381" r:id="rId15"/>
    <p:sldId id="383" r:id="rId16"/>
    <p:sldId id="380" r:id="rId17"/>
    <p:sldId id="390" r:id="rId18"/>
    <p:sldId id="394" r:id="rId19"/>
    <p:sldId id="392" r:id="rId20"/>
    <p:sldId id="363" r:id="rId21"/>
    <p:sldId id="402" r:id="rId22"/>
    <p:sldId id="358" r:id="rId23"/>
    <p:sldId id="399" r:id="rId24"/>
    <p:sldId id="400" r:id="rId25"/>
    <p:sldId id="398" r:id="rId26"/>
    <p:sldId id="377" r:id="rId27"/>
    <p:sldId id="384" r:id="rId28"/>
    <p:sldId id="387" r:id="rId29"/>
    <p:sldId id="389" r:id="rId30"/>
    <p:sldId id="391" r:id="rId31"/>
    <p:sldId id="370" r:id="rId32"/>
    <p:sldId id="393" r:id="rId33"/>
    <p:sldId id="401" r:id="rId34"/>
    <p:sldId id="403" r:id="rId35"/>
    <p:sldId id="406" r:id="rId36"/>
    <p:sldId id="373" r:id="rId37"/>
    <p:sldId id="395" r:id="rId38"/>
    <p:sldId id="405" r:id="rId39"/>
    <p:sldId id="412" r:id="rId40"/>
    <p:sldId id="413" r:id="rId41"/>
    <p:sldId id="407" r:id="rId42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E33CC"/>
    <a:srgbClr val="3333CC"/>
    <a:srgbClr val="0000FF"/>
    <a:srgbClr val="006600"/>
    <a:srgbClr val="FF0000"/>
    <a:srgbClr val="B0E8E7"/>
    <a:srgbClr val="C4DCA0"/>
    <a:srgbClr val="33CCCC"/>
    <a:srgbClr val="2DB8B5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3D5F4-8431-5024-22FA-56B7FD4A9562}" v="11" dt="2026-04-09T07:28:32.334"/>
    <p1510:client id="{AAD08EFD-782C-FA47-A0FA-023950F2D2B4}" v="766" dt="2026-04-09T08:14:36.410"/>
    <p1510:client id="{C2343EB4-EF68-B822-AA14-A1EC565C3EBE}" v="10" dt="2026-04-09T08:02:07.452"/>
    <p1510:client id="{CDD59E92-D7E8-0F2D-A6E5-643905FF18F0}" v="331" dt="2026-04-09T08:12:18.579"/>
    <p1510:client id="{E98145ED-5F9C-D3CD-DBF8-A7346A9DA49D}" v="35" dt="2026-04-09T07:44:43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5"/>
    <p:restoredTop sz="94677"/>
  </p:normalViewPr>
  <p:slideViewPr>
    <p:cSldViewPr snapToGrid="0">
      <p:cViewPr varScale="1">
        <p:scale>
          <a:sx n="202" d="100"/>
          <a:sy n="202" d="100"/>
        </p:scale>
        <p:origin x="184" y="3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AF8A1E-F998-144F-9EC4-031E67B67208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BCD96D-0A9F-854D-B906-A1AA4BB91E07}">
      <dgm:prSet phldrT="[Text]"/>
      <dgm:spPr/>
      <dgm:t>
        <a:bodyPr/>
        <a:lstStyle/>
        <a:p>
          <a:r>
            <a:rPr lang="en-US" dirty="0"/>
            <a:t>NL Utterance</a:t>
          </a:r>
        </a:p>
      </dgm:t>
    </dgm:pt>
    <dgm:pt modelId="{BFA7EA3D-A89C-1843-8C71-D5DC51DCF79C}" type="parTrans" cxnId="{B78F61D4-987F-6844-9635-4D3C3C2BA399}">
      <dgm:prSet/>
      <dgm:spPr/>
      <dgm:t>
        <a:bodyPr/>
        <a:lstStyle/>
        <a:p>
          <a:endParaRPr lang="en-US"/>
        </a:p>
      </dgm:t>
    </dgm:pt>
    <dgm:pt modelId="{08A46549-2396-AF43-9952-C1872FE22B33}" type="sibTrans" cxnId="{B78F61D4-987F-6844-9635-4D3C3C2BA399}">
      <dgm:prSet/>
      <dgm:spPr/>
      <dgm:t>
        <a:bodyPr/>
        <a:lstStyle/>
        <a:p>
          <a:endParaRPr lang="en-US"/>
        </a:p>
      </dgm:t>
    </dgm:pt>
    <dgm:pt modelId="{C1F9A2A2-83C6-6D4D-9261-6754B539609D}">
      <dgm:prSet phldrT="[Text]"/>
      <dgm:spPr/>
      <dgm:t>
        <a:bodyPr/>
        <a:lstStyle/>
        <a:p>
          <a:pPr algn="ctr">
            <a:buNone/>
          </a:pPr>
          <a:r>
            <a:rPr lang="en-US" dirty="0"/>
            <a:t>LLM Mediator</a:t>
          </a:r>
        </a:p>
      </dgm:t>
    </dgm:pt>
    <dgm:pt modelId="{CC20A588-34B7-934C-A2BD-42F7A943DE45}" type="parTrans" cxnId="{5C2E5B3C-5A4A-3443-8E29-24AF62432297}">
      <dgm:prSet/>
      <dgm:spPr/>
      <dgm:t>
        <a:bodyPr/>
        <a:lstStyle/>
        <a:p>
          <a:endParaRPr lang="en-US"/>
        </a:p>
      </dgm:t>
    </dgm:pt>
    <dgm:pt modelId="{8CA98F1B-C139-3C4F-BED8-59613AEC1B99}" type="sibTrans" cxnId="{5C2E5B3C-5A4A-3443-8E29-24AF62432297}">
      <dgm:prSet/>
      <dgm:spPr/>
      <dgm:t>
        <a:bodyPr/>
        <a:lstStyle/>
        <a:p>
          <a:endParaRPr lang="en-US"/>
        </a:p>
      </dgm:t>
    </dgm:pt>
    <dgm:pt modelId="{4F281242-2ED3-0946-AF12-1366EE24B2C1}">
      <dgm:prSet phldrT="[Text]"/>
      <dgm:spPr/>
      <dgm:t>
        <a:bodyPr/>
        <a:lstStyle/>
        <a:p>
          <a:r>
            <a:rPr lang="en-US" dirty="0"/>
            <a:t>Control Activation</a:t>
          </a:r>
        </a:p>
      </dgm:t>
    </dgm:pt>
    <dgm:pt modelId="{2401BF76-2413-BD4D-A1D9-C0662AC7B4A1}" type="parTrans" cxnId="{B9C4FC51-AAC8-4649-96CE-9DC116157E72}">
      <dgm:prSet/>
      <dgm:spPr/>
      <dgm:t>
        <a:bodyPr/>
        <a:lstStyle/>
        <a:p>
          <a:endParaRPr lang="en-US"/>
        </a:p>
      </dgm:t>
    </dgm:pt>
    <dgm:pt modelId="{B9BA08F5-0E7F-D44A-852A-1B48C40C0224}" type="sibTrans" cxnId="{B9C4FC51-AAC8-4649-96CE-9DC116157E72}">
      <dgm:prSet/>
      <dgm:spPr/>
      <dgm:t>
        <a:bodyPr/>
        <a:lstStyle/>
        <a:p>
          <a:endParaRPr lang="en-US"/>
        </a:p>
      </dgm:t>
    </dgm:pt>
    <dgm:pt modelId="{EC724AC7-C960-8942-B33D-870EC1859EBC}">
      <dgm:prSet phldrT="[Text]"/>
      <dgm:spPr/>
      <dgm:t>
        <a:bodyPr/>
        <a:lstStyle/>
        <a:p>
          <a:pPr algn="ctr">
            <a:buNone/>
          </a:pPr>
          <a:r>
            <a:rPr lang="en-US" dirty="0"/>
            <a:t>Application Logic</a:t>
          </a:r>
        </a:p>
      </dgm:t>
    </dgm:pt>
    <dgm:pt modelId="{10D527F0-8727-5243-8223-AB1EF0FE5623}" type="parTrans" cxnId="{13E340C3-F32D-5044-BA74-5753D8F2147C}">
      <dgm:prSet/>
      <dgm:spPr/>
      <dgm:t>
        <a:bodyPr/>
        <a:lstStyle/>
        <a:p>
          <a:endParaRPr lang="en-US"/>
        </a:p>
      </dgm:t>
    </dgm:pt>
    <dgm:pt modelId="{177626FA-5796-D54A-AAAC-9C3D20759597}" type="sibTrans" cxnId="{13E340C3-F32D-5044-BA74-5753D8F2147C}">
      <dgm:prSet/>
      <dgm:spPr/>
      <dgm:t>
        <a:bodyPr/>
        <a:lstStyle/>
        <a:p>
          <a:endParaRPr lang="en-US"/>
        </a:p>
      </dgm:t>
    </dgm:pt>
    <dgm:pt modelId="{9A623340-8358-624B-AC96-5DD384454938}">
      <dgm:prSet phldrT="[Text]"/>
      <dgm:spPr/>
      <dgm:t>
        <a:bodyPr/>
        <a:lstStyle/>
        <a:p>
          <a:r>
            <a:rPr lang="en-US" dirty="0"/>
            <a:t>Display State</a:t>
          </a:r>
        </a:p>
      </dgm:t>
    </dgm:pt>
    <dgm:pt modelId="{BE5E8F73-78C9-CF43-87F2-7FDE8191ABC5}" type="parTrans" cxnId="{4FFE9674-F911-654C-A1E9-4ADDED30BE7B}">
      <dgm:prSet/>
      <dgm:spPr/>
      <dgm:t>
        <a:bodyPr/>
        <a:lstStyle/>
        <a:p>
          <a:endParaRPr lang="en-US"/>
        </a:p>
      </dgm:t>
    </dgm:pt>
    <dgm:pt modelId="{21DB8057-BD0A-D04D-9DAD-D1012236AF01}" type="sibTrans" cxnId="{4FFE9674-F911-654C-A1E9-4ADDED30BE7B}">
      <dgm:prSet/>
      <dgm:spPr/>
      <dgm:t>
        <a:bodyPr/>
        <a:lstStyle/>
        <a:p>
          <a:endParaRPr lang="en-US"/>
        </a:p>
      </dgm:t>
    </dgm:pt>
    <dgm:pt modelId="{AFE80A52-9E67-CF4C-A97F-98D89FB84F83}" type="pres">
      <dgm:prSet presAssocID="{28AF8A1E-F998-144F-9EC4-031E67B67208}" presName="rootnode" presStyleCnt="0">
        <dgm:presLayoutVars>
          <dgm:chMax/>
          <dgm:chPref/>
          <dgm:dir/>
          <dgm:animLvl val="lvl"/>
        </dgm:presLayoutVars>
      </dgm:prSet>
      <dgm:spPr/>
    </dgm:pt>
    <dgm:pt modelId="{03F73125-21EC-944F-A02F-AEF074D8637D}" type="pres">
      <dgm:prSet presAssocID="{E7BCD96D-0A9F-854D-B906-A1AA4BB91E07}" presName="composite" presStyleCnt="0"/>
      <dgm:spPr/>
    </dgm:pt>
    <dgm:pt modelId="{CF061F66-2526-0E49-ADB3-E951C4E7EBF4}" type="pres">
      <dgm:prSet presAssocID="{E7BCD96D-0A9F-854D-B906-A1AA4BB91E07}" presName="bentUpArrow1" presStyleLbl="alignImgPlace1" presStyleIdx="0" presStyleCnt="2" custLinFactNeighborX="6768" custLinFactNeighborY="-645"/>
      <dgm:spPr/>
    </dgm:pt>
    <dgm:pt modelId="{2D586C76-6D29-A143-9F83-7C25F8CAE4C1}" type="pres">
      <dgm:prSet presAssocID="{E7BCD96D-0A9F-854D-B906-A1AA4BB91E07}" presName="ParentText" presStyleLbl="node1" presStyleIdx="0" presStyleCnt="3" custLinFactNeighborY="-10463">
        <dgm:presLayoutVars>
          <dgm:chMax val="1"/>
          <dgm:chPref val="1"/>
          <dgm:bulletEnabled val="1"/>
        </dgm:presLayoutVars>
      </dgm:prSet>
      <dgm:spPr/>
    </dgm:pt>
    <dgm:pt modelId="{241105B1-3119-5F42-8659-BD81F2B57680}" type="pres">
      <dgm:prSet presAssocID="{E7BCD96D-0A9F-854D-B906-A1AA4BB91E07}" presName="ChildText" presStyleLbl="revTx" presStyleIdx="0" presStyleCnt="2" custLinFactX="-100000" custLinFactY="23467" custLinFactNeighborX="-115205" custLinFactNeighborY="100000">
        <dgm:presLayoutVars>
          <dgm:chMax val="0"/>
          <dgm:chPref val="0"/>
          <dgm:bulletEnabled val="1"/>
        </dgm:presLayoutVars>
      </dgm:prSet>
      <dgm:spPr/>
    </dgm:pt>
    <dgm:pt modelId="{3E5D91EA-185A-2541-AC8F-744BC9CCC60E}" type="pres">
      <dgm:prSet presAssocID="{08A46549-2396-AF43-9952-C1872FE22B33}" presName="sibTrans" presStyleCnt="0"/>
      <dgm:spPr/>
    </dgm:pt>
    <dgm:pt modelId="{39D5E0C5-A395-994F-A1DB-D1E29D09CA34}" type="pres">
      <dgm:prSet presAssocID="{4F281242-2ED3-0946-AF12-1366EE24B2C1}" presName="composite" presStyleCnt="0"/>
      <dgm:spPr/>
    </dgm:pt>
    <dgm:pt modelId="{A8505AFD-C47E-8C4F-94B9-282DA88113B4}" type="pres">
      <dgm:prSet presAssocID="{4F281242-2ED3-0946-AF12-1366EE24B2C1}" presName="bentUpArrow1" presStyleLbl="alignImgPlace1" presStyleIdx="1" presStyleCnt="2" custLinFactNeighborX="20982" custLinFactNeighborY="771"/>
      <dgm:spPr/>
    </dgm:pt>
    <dgm:pt modelId="{EC819790-6A9C-6544-914B-AD66CA348048}" type="pres">
      <dgm:prSet presAssocID="{4F281242-2ED3-0946-AF12-1366EE24B2C1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DD51A729-C40D-E740-BD25-2D7D87268D4F}" type="pres">
      <dgm:prSet presAssocID="{4F281242-2ED3-0946-AF12-1366EE24B2C1}" presName="ChildText" presStyleLbl="revTx" presStyleIdx="1" presStyleCnt="2" custLinFactX="-95715" custLinFactY="38356" custLinFactNeighborX="-100000" custLinFactNeighborY="100000">
        <dgm:presLayoutVars>
          <dgm:chMax val="0"/>
          <dgm:chPref val="0"/>
          <dgm:bulletEnabled val="1"/>
        </dgm:presLayoutVars>
      </dgm:prSet>
      <dgm:spPr/>
    </dgm:pt>
    <dgm:pt modelId="{311A78AB-05E0-6C4D-AED7-082128C67A36}" type="pres">
      <dgm:prSet presAssocID="{B9BA08F5-0E7F-D44A-852A-1B48C40C0224}" presName="sibTrans" presStyleCnt="0"/>
      <dgm:spPr/>
    </dgm:pt>
    <dgm:pt modelId="{68BCAC90-BFB4-4F4F-BEE0-081F28DEBEC7}" type="pres">
      <dgm:prSet presAssocID="{9A623340-8358-624B-AC96-5DD384454938}" presName="composite" presStyleCnt="0"/>
      <dgm:spPr/>
    </dgm:pt>
    <dgm:pt modelId="{D58154E9-318C-A942-9714-347517ED4F75}" type="pres">
      <dgm:prSet presAssocID="{9A623340-8358-624B-AC96-5DD384454938}" presName="ParentText" presStyleLbl="node1" presStyleIdx="2" presStyleCnt="3" custLinFactNeighborX="30669" custLinFactNeighborY="-654">
        <dgm:presLayoutVars>
          <dgm:chMax val="1"/>
          <dgm:chPref val="1"/>
          <dgm:bulletEnabled val="1"/>
        </dgm:presLayoutVars>
      </dgm:prSet>
      <dgm:spPr/>
    </dgm:pt>
  </dgm:ptLst>
  <dgm:cxnLst>
    <dgm:cxn modelId="{D6228010-DC78-B148-BDBC-1AF0F6299355}" type="presOf" srcId="{4F281242-2ED3-0946-AF12-1366EE24B2C1}" destId="{EC819790-6A9C-6544-914B-AD66CA348048}" srcOrd="0" destOrd="0" presId="urn:microsoft.com/office/officeart/2005/8/layout/StepDownProcess"/>
    <dgm:cxn modelId="{B7EFA139-5880-474A-AF72-07F4268C7C64}" type="presOf" srcId="{E7BCD96D-0A9F-854D-B906-A1AA4BB91E07}" destId="{2D586C76-6D29-A143-9F83-7C25F8CAE4C1}" srcOrd="0" destOrd="0" presId="urn:microsoft.com/office/officeart/2005/8/layout/StepDownProcess"/>
    <dgm:cxn modelId="{5C2E5B3C-5A4A-3443-8E29-24AF62432297}" srcId="{E7BCD96D-0A9F-854D-B906-A1AA4BB91E07}" destId="{C1F9A2A2-83C6-6D4D-9261-6754B539609D}" srcOrd="0" destOrd="0" parTransId="{CC20A588-34B7-934C-A2BD-42F7A943DE45}" sibTransId="{8CA98F1B-C139-3C4F-BED8-59613AEC1B99}"/>
    <dgm:cxn modelId="{B9C4FC51-AAC8-4649-96CE-9DC116157E72}" srcId="{28AF8A1E-F998-144F-9EC4-031E67B67208}" destId="{4F281242-2ED3-0946-AF12-1366EE24B2C1}" srcOrd="1" destOrd="0" parTransId="{2401BF76-2413-BD4D-A1D9-C0662AC7B4A1}" sibTransId="{B9BA08F5-0E7F-D44A-852A-1B48C40C0224}"/>
    <dgm:cxn modelId="{FAFEA754-8552-A044-B1FD-20609B1DAC84}" type="presOf" srcId="{C1F9A2A2-83C6-6D4D-9261-6754B539609D}" destId="{241105B1-3119-5F42-8659-BD81F2B57680}" srcOrd="0" destOrd="0" presId="urn:microsoft.com/office/officeart/2005/8/layout/StepDownProcess"/>
    <dgm:cxn modelId="{5AFEDC56-054F-944F-BBD0-C9CE5BE8BE82}" type="presOf" srcId="{28AF8A1E-F998-144F-9EC4-031E67B67208}" destId="{AFE80A52-9E67-CF4C-A97F-98D89FB84F83}" srcOrd="0" destOrd="0" presId="urn:microsoft.com/office/officeart/2005/8/layout/StepDownProcess"/>
    <dgm:cxn modelId="{4FFE9674-F911-654C-A1E9-4ADDED30BE7B}" srcId="{28AF8A1E-F998-144F-9EC4-031E67B67208}" destId="{9A623340-8358-624B-AC96-5DD384454938}" srcOrd="2" destOrd="0" parTransId="{BE5E8F73-78C9-CF43-87F2-7FDE8191ABC5}" sibTransId="{21DB8057-BD0A-D04D-9DAD-D1012236AF01}"/>
    <dgm:cxn modelId="{792C4F76-C095-7E45-9D9E-9C56593F8FBE}" type="presOf" srcId="{9A623340-8358-624B-AC96-5DD384454938}" destId="{D58154E9-318C-A942-9714-347517ED4F75}" srcOrd="0" destOrd="0" presId="urn:microsoft.com/office/officeart/2005/8/layout/StepDownProcess"/>
    <dgm:cxn modelId="{13E340C3-F32D-5044-BA74-5753D8F2147C}" srcId="{4F281242-2ED3-0946-AF12-1366EE24B2C1}" destId="{EC724AC7-C960-8942-B33D-870EC1859EBC}" srcOrd="0" destOrd="0" parTransId="{10D527F0-8727-5243-8223-AB1EF0FE5623}" sibTransId="{177626FA-5796-D54A-AAAC-9C3D20759597}"/>
    <dgm:cxn modelId="{B78F61D4-987F-6844-9635-4D3C3C2BA399}" srcId="{28AF8A1E-F998-144F-9EC4-031E67B67208}" destId="{E7BCD96D-0A9F-854D-B906-A1AA4BB91E07}" srcOrd="0" destOrd="0" parTransId="{BFA7EA3D-A89C-1843-8C71-D5DC51DCF79C}" sibTransId="{08A46549-2396-AF43-9952-C1872FE22B33}"/>
    <dgm:cxn modelId="{D44C32EA-22E6-D34E-993C-B524D4BE5A61}" type="presOf" srcId="{EC724AC7-C960-8942-B33D-870EC1859EBC}" destId="{DD51A729-C40D-E740-BD25-2D7D87268D4F}" srcOrd="0" destOrd="0" presId="urn:microsoft.com/office/officeart/2005/8/layout/StepDownProcess"/>
    <dgm:cxn modelId="{8A27B12B-B473-004E-9197-235671E32C6A}" type="presParOf" srcId="{AFE80A52-9E67-CF4C-A97F-98D89FB84F83}" destId="{03F73125-21EC-944F-A02F-AEF074D8637D}" srcOrd="0" destOrd="0" presId="urn:microsoft.com/office/officeart/2005/8/layout/StepDownProcess"/>
    <dgm:cxn modelId="{BA698F63-673D-DA4D-BA6C-13B1C018275F}" type="presParOf" srcId="{03F73125-21EC-944F-A02F-AEF074D8637D}" destId="{CF061F66-2526-0E49-ADB3-E951C4E7EBF4}" srcOrd="0" destOrd="0" presId="urn:microsoft.com/office/officeart/2005/8/layout/StepDownProcess"/>
    <dgm:cxn modelId="{3B06AEBE-C7DA-604D-83C1-3A7DF038648C}" type="presParOf" srcId="{03F73125-21EC-944F-A02F-AEF074D8637D}" destId="{2D586C76-6D29-A143-9F83-7C25F8CAE4C1}" srcOrd="1" destOrd="0" presId="urn:microsoft.com/office/officeart/2005/8/layout/StepDownProcess"/>
    <dgm:cxn modelId="{C2F61C44-5FEC-4048-B662-7EBD956A8BD6}" type="presParOf" srcId="{03F73125-21EC-944F-A02F-AEF074D8637D}" destId="{241105B1-3119-5F42-8659-BD81F2B57680}" srcOrd="2" destOrd="0" presId="urn:microsoft.com/office/officeart/2005/8/layout/StepDownProcess"/>
    <dgm:cxn modelId="{6DCD719E-AA58-6C44-80DB-1BE1E9F6D6B9}" type="presParOf" srcId="{AFE80A52-9E67-CF4C-A97F-98D89FB84F83}" destId="{3E5D91EA-185A-2541-AC8F-744BC9CCC60E}" srcOrd="1" destOrd="0" presId="urn:microsoft.com/office/officeart/2005/8/layout/StepDownProcess"/>
    <dgm:cxn modelId="{9F535D9A-299A-5746-8C50-F57CBA0EABB9}" type="presParOf" srcId="{AFE80A52-9E67-CF4C-A97F-98D89FB84F83}" destId="{39D5E0C5-A395-994F-A1DB-D1E29D09CA34}" srcOrd="2" destOrd="0" presId="urn:microsoft.com/office/officeart/2005/8/layout/StepDownProcess"/>
    <dgm:cxn modelId="{8291B292-BEBE-DC4C-84D1-3C9DF4EBA2A7}" type="presParOf" srcId="{39D5E0C5-A395-994F-A1DB-D1E29D09CA34}" destId="{A8505AFD-C47E-8C4F-94B9-282DA88113B4}" srcOrd="0" destOrd="0" presId="urn:microsoft.com/office/officeart/2005/8/layout/StepDownProcess"/>
    <dgm:cxn modelId="{1670F742-7F45-9C45-8233-8FCD8F3578A0}" type="presParOf" srcId="{39D5E0C5-A395-994F-A1DB-D1E29D09CA34}" destId="{EC819790-6A9C-6544-914B-AD66CA348048}" srcOrd="1" destOrd="0" presId="urn:microsoft.com/office/officeart/2005/8/layout/StepDownProcess"/>
    <dgm:cxn modelId="{66A46BB7-6A53-4145-B37B-904DFFF10E5E}" type="presParOf" srcId="{39D5E0C5-A395-994F-A1DB-D1E29D09CA34}" destId="{DD51A729-C40D-E740-BD25-2D7D87268D4F}" srcOrd="2" destOrd="0" presId="urn:microsoft.com/office/officeart/2005/8/layout/StepDownProcess"/>
    <dgm:cxn modelId="{D38E0FBD-BE0A-7A40-BCC8-7FB615A17C84}" type="presParOf" srcId="{AFE80A52-9E67-CF4C-A97F-98D89FB84F83}" destId="{311A78AB-05E0-6C4D-AED7-082128C67A36}" srcOrd="3" destOrd="0" presId="urn:microsoft.com/office/officeart/2005/8/layout/StepDownProcess"/>
    <dgm:cxn modelId="{7C4C702B-C484-4045-8B7B-946181454F8E}" type="presParOf" srcId="{AFE80A52-9E67-CF4C-A97F-98D89FB84F83}" destId="{68BCAC90-BFB4-4F4F-BEE0-081F28DEBEC7}" srcOrd="4" destOrd="0" presId="urn:microsoft.com/office/officeart/2005/8/layout/StepDownProcess"/>
    <dgm:cxn modelId="{BC257238-F0C4-1344-8331-4F2FE9201C2D}" type="presParOf" srcId="{68BCAC90-BFB4-4F4F-BEE0-081F28DEBEC7}" destId="{D58154E9-318C-A942-9714-347517ED4F75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61F66-2526-0E49-ADB3-E951C4E7EBF4}">
      <dsp:nvSpPr>
        <dsp:cNvPr id="0" name=""/>
        <dsp:cNvSpPr/>
      </dsp:nvSpPr>
      <dsp:spPr>
        <a:xfrm rot="5400000">
          <a:off x="1269278" y="1180602"/>
          <a:ext cx="1050131" cy="11955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586C76-6D29-A143-9F83-7C25F8CAE4C1}">
      <dsp:nvSpPr>
        <dsp:cNvPr id="0" name=""/>
        <dsp:cNvSpPr/>
      </dsp:nvSpPr>
      <dsp:spPr>
        <a:xfrm>
          <a:off x="910143" y="0"/>
          <a:ext cx="1767802" cy="123740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NL Utterance</a:t>
          </a:r>
        </a:p>
      </dsp:txBody>
      <dsp:txXfrm>
        <a:off x="970559" y="60416"/>
        <a:ext cx="1646970" cy="1116572"/>
      </dsp:txXfrm>
    </dsp:sp>
    <dsp:sp modelId="{241105B1-3119-5F42-8659-BD81F2B57680}">
      <dsp:nvSpPr>
        <dsp:cNvPr id="0" name=""/>
        <dsp:cNvSpPr/>
      </dsp:nvSpPr>
      <dsp:spPr>
        <a:xfrm>
          <a:off x="0" y="1376123"/>
          <a:ext cx="1285731" cy="100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/>
            <a:t>LLM Mediator</a:t>
          </a:r>
        </a:p>
      </dsp:txBody>
      <dsp:txXfrm>
        <a:off x="0" y="1376123"/>
        <a:ext cx="1285731" cy="1000125"/>
      </dsp:txXfrm>
    </dsp:sp>
    <dsp:sp modelId="{A8505AFD-C47E-8C4F-94B9-282DA88113B4}">
      <dsp:nvSpPr>
        <dsp:cNvPr id="0" name=""/>
        <dsp:cNvSpPr/>
      </dsp:nvSpPr>
      <dsp:spPr>
        <a:xfrm rot="5400000">
          <a:off x="2904908" y="2585485"/>
          <a:ext cx="1050131" cy="11955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819790-6A9C-6544-914B-AD66CA348048}">
      <dsp:nvSpPr>
        <dsp:cNvPr id="0" name=""/>
        <dsp:cNvSpPr/>
      </dsp:nvSpPr>
      <dsp:spPr>
        <a:xfrm>
          <a:off x="2375840" y="1413297"/>
          <a:ext cx="1767802" cy="123740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Control Activation</a:t>
          </a:r>
        </a:p>
      </dsp:txBody>
      <dsp:txXfrm>
        <a:off x="2436256" y="1473713"/>
        <a:ext cx="1646970" cy="1116572"/>
      </dsp:txXfrm>
    </dsp:sp>
    <dsp:sp modelId="{DD51A729-C40D-E740-BD25-2D7D87268D4F}">
      <dsp:nvSpPr>
        <dsp:cNvPr id="0" name=""/>
        <dsp:cNvSpPr/>
      </dsp:nvSpPr>
      <dsp:spPr>
        <a:xfrm>
          <a:off x="1627273" y="2915045"/>
          <a:ext cx="1285731" cy="100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/>
            <a:t>Application Logic</a:t>
          </a:r>
        </a:p>
      </dsp:txBody>
      <dsp:txXfrm>
        <a:off x="1627273" y="2915045"/>
        <a:ext cx="1285731" cy="1000125"/>
      </dsp:txXfrm>
    </dsp:sp>
    <dsp:sp modelId="{D58154E9-318C-A942-9714-347517ED4F75}">
      <dsp:nvSpPr>
        <dsp:cNvPr id="0" name=""/>
        <dsp:cNvSpPr/>
      </dsp:nvSpPr>
      <dsp:spPr>
        <a:xfrm>
          <a:off x="4383703" y="2795218"/>
          <a:ext cx="1767802" cy="123740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Display State</a:t>
          </a:r>
        </a:p>
      </dsp:txBody>
      <dsp:txXfrm>
        <a:off x="4444119" y="2855634"/>
        <a:ext cx="1646970" cy="1116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1">
            <a:extLst>
              <a:ext uri="{FF2B5EF4-FFF2-40B4-BE49-F238E27FC236}">
                <a16:creationId xmlns:a16="http://schemas.microsoft.com/office/drawing/2014/main" id="{00F84B00-D624-DAE9-B77A-29AA62843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13000"/>
              </a:lnSpc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en-US" altLang="en-US"/>
          </a:p>
        </p:txBody>
      </p:sp>
      <p:sp>
        <p:nvSpPr>
          <p:cNvPr id="16387" name="AutoShape 2">
            <a:extLst>
              <a:ext uri="{FF2B5EF4-FFF2-40B4-BE49-F238E27FC236}">
                <a16:creationId xmlns:a16="http://schemas.microsoft.com/office/drawing/2014/main" id="{328439A5-6270-BD56-6D9A-002E44E83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13000"/>
              </a:lnSpc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en-US" altLang="en-US"/>
          </a:p>
        </p:txBody>
      </p:sp>
      <p:sp>
        <p:nvSpPr>
          <p:cNvPr id="16388" name="AutoShape 3">
            <a:extLst>
              <a:ext uri="{FF2B5EF4-FFF2-40B4-BE49-F238E27FC236}">
                <a16:creationId xmlns:a16="http://schemas.microsoft.com/office/drawing/2014/main" id="{FC0F451F-C54B-9C8A-98EF-F64F72716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13000"/>
              </a:lnSpc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127A408-51B1-FCE0-2F5F-EDFA39B1C05E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6703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C80EEA8-4CB3-4B09-C291-93B57A40CAB7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7037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3079" name="Rectangle 6">
            <a:extLst>
              <a:ext uri="{FF2B5EF4-FFF2-40B4-BE49-F238E27FC236}">
                <a16:creationId xmlns:a16="http://schemas.microsoft.com/office/drawing/2014/main" id="{D71A4B87-4AD4-D2F9-8262-D6795DBE4C0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7238" cy="342741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72232652-FD12-3A73-FE29-192F699CCCC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1638" cy="41132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zh-TW" noProof="0"/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7B024D83-D5F0-D508-4E67-91919339AFC3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8685213"/>
            <a:ext cx="2967038" cy="4524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C9A46A59-7929-CC2D-B9C0-DEC58D6BF55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7037" cy="4524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D895CA4-22C2-42F2-B131-084FE0638FB7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>
            <a:extLst>
              <a:ext uri="{FF2B5EF4-FFF2-40B4-BE49-F238E27FC236}">
                <a16:creationId xmlns:a16="http://schemas.microsoft.com/office/drawing/2014/main" id="{8FD92F65-A6C0-539A-BE1B-63176256765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12066D4B-FE7B-4D02-A942-2E9AC13192DD}" type="slidenum">
              <a:rPr lang="en-GB" altLang="zh-TW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en-GB" altLang="zh-TW">
              <a:latin typeface="Arial" panose="020B0604020202020204" pitchFamily="34" charset="0"/>
            </a:endParaRPr>
          </a:p>
        </p:txBody>
      </p:sp>
      <p:sp>
        <p:nvSpPr>
          <p:cNvPr id="5123" name="Text Box 1">
            <a:extLst>
              <a:ext uri="{FF2B5EF4-FFF2-40B4-BE49-F238E27FC236}">
                <a16:creationId xmlns:a16="http://schemas.microsoft.com/office/drawing/2014/main" id="{B8EE853F-5007-C79B-8B2E-228304BD4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1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8D909B97-1333-1A9D-E54C-8FCE203AA3A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9792B-B4E5-3D26-4197-DFD092D4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>
            <a:extLst>
              <a:ext uri="{FF2B5EF4-FFF2-40B4-BE49-F238E27FC236}">
                <a16:creationId xmlns:a16="http://schemas.microsoft.com/office/drawing/2014/main" id="{857C78ED-0790-0FA0-61A0-56B6034CD97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12066D4B-FE7B-4D02-A942-2E9AC13192DD}" type="slidenum">
              <a:rPr lang="en-GB" altLang="zh-TW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en-GB" altLang="zh-TW">
              <a:latin typeface="Arial" panose="020B0604020202020204" pitchFamily="34" charset="0"/>
            </a:endParaRPr>
          </a:p>
        </p:txBody>
      </p:sp>
      <p:sp>
        <p:nvSpPr>
          <p:cNvPr id="5123" name="Text Box 1">
            <a:extLst>
              <a:ext uri="{FF2B5EF4-FFF2-40B4-BE49-F238E27FC236}">
                <a16:creationId xmlns:a16="http://schemas.microsoft.com/office/drawing/2014/main" id="{8A40583E-E60A-87BC-9A55-69B746C14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1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869B47E1-85BA-E740-5FE5-FD13959DC31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2199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AD895CA4-22C2-42F2-B131-084FE0638FB7}" type="slidenum">
              <a:rPr lang="en-GB" altLang="zh-TW" smtClean="0"/>
              <a:pPr>
                <a:defRPr/>
              </a:pPr>
              <a:t>11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032322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AD895CA4-22C2-42F2-B131-084FE0638FB7}" type="slidenum">
              <a:rPr lang="en-GB" altLang="zh-TW" smtClean="0"/>
              <a:pPr>
                <a:defRPr/>
              </a:pPr>
              <a:t>14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880594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41BCD-7C77-5088-D0F2-9404A094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CBE7E-D576-5B18-B7DC-AC7244E30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FDA7F-B75B-61E4-3788-87A5B2E81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6C21A-E04A-D712-6E9C-0EDA9AF624B4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AD895CA4-22C2-42F2-B131-084FE0638FB7}" type="slidenum">
              <a:rPr lang="en-GB" altLang="zh-TW" smtClean="0"/>
              <a:pPr>
                <a:defRPr/>
              </a:pPr>
              <a:t>23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103704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Metamorphic testing is useful when the correct output is unknown.</a:t>
            </a:r>
            <a:br>
              <a:rPr lang="en-US"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 We first run the system with an input x and observe output f(x).</a:t>
            </a:r>
            <a:br>
              <a:rPr lang="en-US"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 Then we transform the input using a metamorphic relation to create a follow-up input T(x).</a:t>
            </a:r>
            <a:br>
              <a:rPr lang="en-US"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 After running the system again, we check whether the outputs satisfy the expected 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AD895CA4-22C2-42F2-B131-084FE0638FB7}" type="slidenum">
              <a:rPr lang="en-GB" altLang="zh-TW"/>
              <a:pPr>
                <a:defRPr/>
              </a:pPr>
              <a:t>31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071041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metamorphic relation specifies how outputs should change when we transform the input. Instead of checking one correct output, we check whether the outputs follow the expected 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AD895CA4-22C2-42F2-B131-084FE0638FB7}" type="slidenum">
              <a:rPr lang="en-GB" altLang="zh-TW"/>
              <a:pPr>
                <a:defRPr/>
              </a:pPr>
              <a:t>32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49803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A538C5-ED32-7D17-1849-3804B099689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14237-E0A9-B47B-AF98-2A675B314ED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B7D063-2C30-7B21-0DD3-3CF88E0B8C2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D3C68-14D8-4D43-B160-EDE04D41457A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57977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4838" cy="7620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4838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643157-D10B-19B9-2B99-4671D106A0F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37DB4-7F89-0899-F87A-BAF34578D80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6FAA97-7050-BD31-A226-B452CA81E89A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5AB54-5A23-44F5-A47B-06A0F33C00D2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5876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380B6-509A-A25E-57EE-0B38C3847A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C4DCA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defTabSz="449263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13000"/>
              </a:lnSpc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A5B06-A61D-4BDB-317D-017AAA0615A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BA693-4C7E-9762-2174-93143FC0DF4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82D25-24A3-E432-EE8F-E2FB350CAFD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97744F-1D14-4CD6-BBFC-256508C86341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81543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5425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D958AE-277A-6628-1789-30B99CC7D23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8571185-0196-D860-83B6-A429615D385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722393-A1AD-6696-FD1F-EA859BB9D4C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38996C-8B16-4B95-A115-7BAD662DD2EB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705115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EDA081-AC23-1CC9-B399-B3E6995F429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3C001FB-036F-31C1-22C8-4B88B19D5B1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721DB73-4344-7D01-2F74-809CDFFBCF1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DB9BF-2AB6-4D08-B3C9-C787D38F0A8E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565223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969D3E-11A9-A460-6AEB-1F50EF2954F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A8F982-FCF4-FB98-163F-7995552AA7E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10034A-75FA-1389-6011-7E0C97F561C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1CB7A-4494-4FDE-AED5-83A2C9B2B7E3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80225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1805A40-8A2B-D2A1-A3DD-9967A5140FC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CABB2B2-E198-858B-5D5E-54D3A9931C89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D8D252D-431A-DAAB-16C8-03B168D4A9C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E8D62-5510-4FEC-9137-C3821E52F835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90234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CB298D-2EE7-85B8-568F-7AD7BF6A294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FCE2019-D801-59C0-9FF3-FEA000739B5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0DC2952-71E8-248F-9C2F-77376B1114F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48CC4-147F-4DE0-9219-2F1366BF5FA3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60524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FB3DDC1-0BC4-E1BA-DB2A-2CE1E8D8B60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8B35AD2-AF58-BC81-3A38-EDE97E2BD0D9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7B03206-248F-7912-C625-9FF47903D68A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29D53-B36E-4B74-B1D5-F242E7433DE7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78952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5478B2-4F63-A417-E154-9BE0A72BBBF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1EC97E-CC91-0C99-1BF1-ECAE8231A48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E6B78F-0C71-E621-8948-3AA26124D7A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41B7B-897D-49A0-AE4E-F814A12097B6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93533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274638"/>
            <a:ext cx="2055813" cy="5849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6625" cy="5849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B0A69C-09D7-1678-202C-34B8DD865B6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C12773-F05D-537F-3A6A-65C430155B2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FA8FAA-C7E1-D96B-8A63-7AFB5F818B7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90D4A3-5558-481E-BC52-327DBBF84268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99865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4838" cy="1138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B272BAB-F7CF-FFAF-015B-4F028380905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8677C1-DCCA-E5EB-4595-6DBBDF7E091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0FC50B-1AF6-911D-D680-9A6D3FA086E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B5BF7-5E23-4799-AE4B-7889B3EF6D9A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84598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E5C36B86-3323-7B64-6BCC-63D87F724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4838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TW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BD8BB8D2-E0A4-190E-7495-4BA0999CA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4838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TW"/>
              <a:t>Click to edit the outline text format</a:t>
            </a:r>
          </a:p>
          <a:p>
            <a:pPr lvl="1"/>
            <a:r>
              <a:rPr lang="en-GB" altLang="zh-TW"/>
              <a:t>Second Outline Level</a:t>
            </a:r>
          </a:p>
          <a:p>
            <a:pPr lvl="2"/>
            <a:r>
              <a:rPr lang="en-GB" altLang="zh-TW"/>
              <a:t>Third Outline Level</a:t>
            </a:r>
          </a:p>
          <a:p>
            <a:pPr lvl="3"/>
            <a:r>
              <a:rPr lang="en-GB" altLang="zh-TW"/>
              <a:t>Fourth Outline Level</a:t>
            </a:r>
          </a:p>
          <a:p>
            <a:pPr lvl="4"/>
            <a:r>
              <a:rPr lang="en-GB" altLang="zh-TW"/>
              <a:t>Fifth Outline Level</a:t>
            </a:r>
          </a:p>
          <a:p>
            <a:pPr lvl="4"/>
            <a:r>
              <a:rPr lang="en-GB" altLang="zh-TW"/>
              <a:t>Sixth Outline Level</a:t>
            </a:r>
          </a:p>
          <a:p>
            <a:pPr lvl="4"/>
            <a:r>
              <a:rPr lang="en-GB" altLang="zh-TW"/>
              <a:t>Seventh Outline Level</a:t>
            </a:r>
          </a:p>
          <a:p>
            <a:pPr lvl="4"/>
            <a:r>
              <a:rPr lang="en-GB" altLang="zh-TW"/>
              <a:t>Eighth Outline Level</a:t>
            </a:r>
          </a:p>
          <a:p>
            <a:pPr lvl="4"/>
            <a:r>
              <a:rPr lang="en-GB" altLang="zh-TW"/>
              <a:t>Ninth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B9DC778-62F8-D81B-4562-3EF7F0F49CBC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28838" cy="471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FB826F-D006-20F3-132A-EF8829A07FE6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5225"/>
            <a:ext cx="2890838" cy="471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A3C2DE-2077-1357-F634-6E81E8E37B3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28838" cy="471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FCEA69E-603D-4214-9DC0-86188E3F1990}" type="slidenum">
              <a:rPr lang="en-GB" altLang="zh-TW"/>
              <a:pPr>
                <a:defRPr/>
              </a:pPr>
              <a:t>‹#›</a:t>
            </a:fld>
            <a:endParaRPr lang="en-GB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9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</p:sldLayoutIdLst>
  <p:hf hdr="0" ftr="0" dt="0"/>
  <p:txStyles>
    <p:titleStyle>
      <a:lvl1pPr algn="ctr" defTabSz="449263" rtl="0" eaLnBrk="0" fontAlgn="base" hangingPunct="0">
        <a:lnSpc>
          <a:spcPct val="113000"/>
        </a:lnSpc>
        <a:spcBef>
          <a:spcPct val="0"/>
        </a:spcBef>
        <a:spcAft>
          <a:spcPct val="0"/>
        </a:spcAft>
        <a:buClr>
          <a:srgbClr val="000080"/>
        </a:buClr>
        <a:buSzPct val="100000"/>
        <a:buFont typeface="Arial" panose="020B0604020202020204" pitchFamily="34" charset="0"/>
        <a:defRPr sz="4400">
          <a:solidFill>
            <a:srgbClr val="00008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113000"/>
        </a:lnSpc>
        <a:spcBef>
          <a:spcPct val="0"/>
        </a:spcBef>
        <a:spcAft>
          <a:spcPct val="0"/>
        </a:spcAft>
        <a:buClr>
          <a:srgbClr val="000080"/>
        </a:buClr>
        <a:buSzPct val="100000"/>
        <a:buFont typeface="Arial" panose="020B0604020202020204" pitchFamily="34" charset="0"/>
        <a:defRPr sz="4400">
          <a:solidFill>
            <a:srgbClr val="000080"/>
          </a:solidFill>
          <a:latin typeface="Arial" charset="0"/>
          <a:ea typeface="新細明體" pitchFamily="18" charset="-120"/>
        </a:defRPr>
      </a:lvl2pPr>
      <a:lvl3pPr algn="ctr" defTabSz="449263" rtl="0" eaLnBrk="0" fontAlgn="base" hangingPunct="0">
        <a:lnSpc>
          <a:spcPct val="113000"/>
        </a:lnSpc>
        <a:spcBef>
          <a:spcPct val="0"/>
        </a:spcBef>
        <a:spcAft>
          <a:spcPct val="0"/>
        </a:spcAft>
        <a:buClr>
          <a:srgbClr val="000080"/>
        </a:buClr>
        <a:buSzPct val="100000"/>
        <a:buFont typeface="Arial" panose="020B0604020202020204" pitchFamily="34" charset="0"/>
        <a:defRPr sz="4400">
          <a:solidFill>
            <a:srgbClr val="000080"/>
          </a:solidFill>
          <a:latin typeface="Arial" charset="0"/>
          <a:ea typeface="新細明體" pitchFamily="18" charset="-120"/>
        </a:defRPr>
      </a:lvl3pPr>
      <a:lvl4pPr algn="ctr" defTabSz="449263" rtl="0" eaLnBrk="0" fontAlgn="base" hangingPunct="0">
        <a:lnSpc>
          <a:spcPct val="113000"/>
        </a:lnSpc>
        <a:spcBef>
          <a:spcPct val="0"/>
        </a:spcBef>
        <a:spcAft>
          <a:spcPct val="0"/>
        </a:spcAft>
        <a:buClr>
          <a:srgbClr val="000080"/>
        </a:buClr>
        <a:buSzPct val="100000"/>
        <a:buFont typeface="Arial" panose="020B0604020202020204" pitchFamily="34" charset="0"/>
        <a:defRPr sz="4400">
          <a:solidFill>
            <a:srgbClr val="000080"/>
          </a:solidFill>
          <a:latin typeface="Arial" charset="0"/>
          <a:ea typeface="新細明體" pitchFamily="18" charset="-120"/>
        </a:defRPr>
      </a:lvl4pPr>
      <a:lvl5pPr algn="ctr" defTabSz="449263" rtl="0" eaLnBrk="0" fontAlgn="base" hangingPunct="0">
        <a:lnSpc>
          <a:spcPct val="113000"/>
        </a:lnSpc>
        <a:spcBef>
          <a:spcPct val="0"/>
        </a:spcBef>
        <a:spcAft>
          <a:spcPct val="0"/>
        </a:spcAft>
        <a:buClr>
          <a:srgbClr val="000080"/>
        </a:buClr>
        <a:buSzPct val="100000"/>
        <a:buFont typeface="Arial" panose="020B0604020202020204" pitchFamily="34" charset="0"/>
        <a:defRPr sz="4400">
          <a:solidFill>
            <a:srgbClr val="000080"/>
          </a:solidFill>
          <a:latin typeface="Arial" charset="0"/>
          <a:ea typeface="新細明體" pitchFamily="18" charset="-120"/>
        </a:defRPr>
      </a:lvl5pPr>
      <a:lvl6pPr marL="457200" algn="ctr" defTabSz="449263" rtl="0" fontAlgn="base">
        <a:lnSpc>
          <a:spcPct val="113000"/>
        </a:lnSpc>
        <a:spcBef>
          <a:spcPct val="0"/>
        </a:spcBef>
        <a:spcAft>
          <a:spcPct val="0"/>
        </a:spcAft>
        <a:buClr>
          <a:srgbClr val="000080"/>
        </a:buClr>
        <a:buSzPct val="100000"/>
        <a:buFont typeface="Arial" charset="0"/>
        <a:defRPr sz="4400">
          <a:solidFill>
            <a:srgbClr val="000080"/>
          </a:solidFill>
          <a:latin typeface="Arial" charset="0"/>
          <a:ea typeface="新細明體" pitchFamily="18" charset="-120"/>
        </a:defRPr>
      </a:lvl6pPr>
      <a:lvl7pPr marL="914400" algn="ctr" defTabSz="449263" rtl="0" fontAlgn="base">
        <a:lnSpc>
          <a:spcPct val="113000"/>
        </a:lnSpc>
        <a:spcBef>
          <a:spcPct val="0"/>
        </a:spcBef>
        <a:spcAft>
          <a:spcPct val="0"/>
        </a:spcAft>
        <a:buClr>
          <a:srgbClr val="000080"/>
        </a:buClr>
        <a:buSzPct val="100000"/>
        <a:buFont typeface="Arial" charset="0"/>
        <a:defRPr sz="4400">
          <a:solidFill>
            <a:srgbClr val="000080"/>
          </a:solidFill>
          <a:latin typeface="Arial" charset="0"/>
          <a:ea typeface="新細明體" pitchFamily="18" charset="-120"/>
        </a:defRPr>
      </a:lvl7pPr>
      <a:lvl8pPr marL="1371600" algn="ctr" defTabSz="449263" rtl="0" fontAlgn="base">
        <a:lnSpc>
          <a:spcPct val="113000"/>
        </a:lnSpc>
        <a:spcBef>
          <a:spcPct val="0"/>
        </a:spcBef>
        <a:spcAft>
          <a:spcPct val="0"/>
        </a:spcAft>
        <a:buClr>
          <a:srgbClr val="000080"/>
        </a:buClr>
        <a:buSzPct val="100000"/>
        <a:buFont typeface="Arial" charset="0"/>
        <a:defRPr sz="4400">
          <a:solidFill>
            <a:srgbClr val="000080"/>
          </a:solidFill>
          <a:latin typeface="Arial" charset="0"/>
          <a:ea typeface="新細明體" pitchFamily="18" charset="-120"/>
        </a:defRPr>
      </a:lvl8pPr>
      <a:lvl9pPr marL="1828800" algn="ctr" defTabSz="449263" rtl="0" fontAlgn="base">
        <a:lnSpc>
          <a:spcPct val="113000"/>
        </a:lnSpc>
        <a:spcBef>
          <a:spcPct val="0"/>
        </a:spcBef>
        <a:spcAft>
          <a:spcPct val="0"/>
        </a:spcAft>
        <a:buClr>
          <a:srgbClr val="000080"/>
        </a:buClr>
        <a:buSzPct val="100000"/>
        <a:buFont typeface="Arial" charset="0"/>
        <a:defRPr sz="4400">
          <a:solidFill>
            <a:srgbClr val="000080"/>
          </a:solidFill>
          <a:latin typeface="Arial" charset="0"/>
          <a:ea typeface="新細明體" pitchFamily="18" charset="-120"/>
        </a:defRPr>
      </a:lvl9pPr>
    </p:titleStyle>
    <p:bodyStyle>
      <a:lvl1pPr marL="338138" indent="-338138" algn="l" defTabSz="449263" rtl="0" eaLnBrk="0" fontAlgn="base" hangingPunct="0">
        <a:lnSpc>
          <a:spcPct val="113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38188" indent="-280988" algn="l" defTabSz="449263" rtl="0" eaLnBrk="0" fontAlgn="base" hangingPunct="0">
        <a:lnSpc>
          <a:spcPct val="113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lnSpc>
          <a:spcPct val="11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lnSpc>
          <a:spcPct val="11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lnSpc>
          <a:spcPct val="11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lnSpc>
          <a:spcPct val="11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lnSpc>
          <a:spcPct val="11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lnSpc>
          <a:spcPct val="11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lnSpc>
          <a:spcPct val="11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ryker-mutator.io/robo-coasters-example/" TargetMode="External"/><Relationship Id="rId2" Type="http://schemas.openxmlformats.org/officeDocument/2006/relationships/hyperlink" Target="https://ninad.me/zYIES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ninad.me/KobG5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B399D884-5A25-AB59-399F-50542D807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81413"/>
            <a:ext cx="8091488" cy="648512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zh-TW" sz="3600" b="1" dirty="0"/>
              <a:t>Testing Language Mediated GUIs</a:t>
            </a:r>
          </a:p>
        </p:txBody>
      </p:sp>
      <p:sp>
        <p:nvSpPr>
          <p:cNvPr id="4099" name="TextBox 1">
            <a:extLst>
              <a:ext uri="{FF2B5EF4-FFF2-40B4-BE49-F238E27FC236}">
                <a16:creationId xmlns:a16="http://schemas.microsoft.com/office/drawing/2014/main" id="{F64FEC1B-68B9-5830-C972-5FBB4633C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816" y="6276587"/>
            <a:ext cx="5738366" cy="357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1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1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Creating a Chart – Traditional (left) vs Language Assisted (Right)</a:t>
            </a:r>
          </a:p>
        </p:txBody>
      </p:sp>
      <p:sp>
        <p:nvSpPr>
          <p:cNvPr id="4100" name="TextBox 1">
            <a:extLst>
              <a:ext uri="{FF2B5EF4-FFF2-40B4-BE49-F238E27FC236}">
                <a16:creationId xmlns:a16="http://schemas.microsoft.com/office/drawing/2014/main" id="{A8050B5E-B564-F6E0-3F82-307C17246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7328" y="1422838"/>
            <a:ext cx="4869346" cy="391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1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1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chemeClr val="tx1"/>
                </a:solidFill>
                <a:latin typeface="Aptos" panose="020B0004020202020204" pitchFamily="34" charset="0"/>
              </a:rPr>
              <a:t> April 2026 \ Chaudhari, Ninad &amp; Kuri, Sharmista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1E0D97-658D-3488-29A5-D954DA7A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403"/>
          <a:stretch>
            <a:fillRect/>
          </a:stretch>
        </p:blipFill>
        <p:spPr>
          <a:xfrm>
            <a:off x="182739" y="2195262"/>
            <a:ext cx="5140812" cy="30500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D8659D-DFAE-1E8D-7054-FBA87FC43F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947" t="8287" r="9819" b="65009"/>
          <a:stretch>
            <a:fillRect/>
          </a:stretch>
        </p:blipFill>
        <p:spPr>
          <a:xfrm>
            <a:off x="5207744" y="3767931"/>
            <a:ext cx="3015462" cy="21158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9A7D65-6FBB-EB86-3D25-9424975AA3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24B5BF7-5E23-4799-AE4B-7889B3EF6D9A}" type="slidenum">
              <a:rPr lang="en-GB" altLang="zh-TW" smtClean="0"/>
              <a:pPr>
                <a:defRPr/>
              </a:pPr>
              <a:t>1</a:t>
            </a:fld>
            <a:endParaRPr lang="en-GB" altLang="zh-TW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4D49FC-E13A-FB16-0FC9-73917656522C}"/>
              </a:ext>
            </a:extLst>
          </p:cNvPr>
          <p:cNvSpPr txBox="1"/>
          <p:nvPr/>
        </p:nvSpPr>
        <p:spPr>
          <a:xfrm>
            <a:off x="7889358" y="22328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err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C8BF3-56D4-2A05-2E30-8631B524A9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24B5BF7-5E23-4799-AE4B-7889B3EF6D9A}" type="slidenum">
              <a:rPr lang="en-GB" altLang="zh-TW"/>
              <a:pPr>
                <a:defRPr/>
              </a:pPr>
              <a:t>2</a:t>
            </a:fld>
            <a:endParaRPr lang="en-GB" altLang="zh-TW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E3C757-2D16-6EDE-5632-3232D00F7B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7" t="-264" b="47064"/>
          <a:stretch>
            <a:fillRect/>
          </a:stretch>
        </p:blipFill>
        <p:spPr bwMode="auto">
          <a:xfrm>
            <a:off x="3079370" y="3066125"/>
            <a:ext cx="6066888" cy="3648415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43E2CE-58F4-9529-AD6C-4E414AF5272D}"/>
              </a:ext>
            </a:extLst>
          </p:cNvPr>
          <p:cNvSpPr/>
          <p:nvPr/>
        </p:nvSpPr>
        <p:spPr bwMode="auto">
          <a:xfrm>
            <a:off x="3141246" y="3999258"/>
            <a:ext cx="2746977" cy="1538714"/>
          </a:xfrm>
          <a:prstGeom prst="rect">
            <a:avLst/>
          </a:prstGeom>
          <a:solidFill>
            <a:srgbClr val="CE33CC">
              <a:alpha val="8235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500440E-71E9-5343-FC74-F82E2D5568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14"/>
          <a:stretch>
            <a:fillRect/>
          </a:stretch>
        </p:blipFill>
        <p:spPr bwMode="auto">
          <a:xfrm>
            <a:off x="0" y="0"/>
            <a:ext cx="8062166" cy="3923063"/>
          </a:xfrm>
          <a:prstGeom prst="rect">
            <a:avLst/>
          </a:prstGeom>
          <a:ln>
            <a:solidFill>
              <a:srgbClr val="7030A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1F8A21-FFEA-09DF-1A13-472D546E733D}"/>
              </a:ext>
            </a:extLst>
          </p:cNvPr>
          <p:cNvSpPr/>
          <p:nvPr/>
        </p:nvSpPr>
        <p:spPr bwMode="auto">
          <a:xfrm>
            <a:off x="1553713" y="944362"/>
            <a:ext cx="4140792" cy="1538714"/>
          </a:xfrm>
          <a:prstGeom prst="rect">
            <a:avLst/>
          </a:prstGeom>
          <a:solidFill>
            <a:srgbClr val="3333CC">
              <a:alpha val="8627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43AE1C-BA0D-12DC-534E-FAC0BFF9CE6A}"/>
              </a:ext>
            </a:extLst>
          </p:cNvPr>
          <p:cNvSpPr txBox="1"/>
          <p:nvPr/>
        </p:nvSpPr>
        <p:spPr>
          <a:xfrm>
            <a:off x="237453" y="4817942"/>
            <a:ext cx="2604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“In Stock Only” filter Automatically applied when utterance is in uppercase (right)</a:t>
            </a:r>
          </a:p>
        </p:txBody>
      </p:sp>
    </p:spTree>
    <p:extLst>
      <p:ext uri="{BB962C8B-B14F-4D97-AF65-F5344CB8AC3E}">
        <p14:creationId xmlns:p14="http://schemas.microsoft.com/office/powerpoint/2010/main" val="218552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BDE5-8DAB-F37B-F51F-BB323EFE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0592-4CA7-F090-4870-5D658D465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</a:t>
            </a:r>
          </a:p>
          <a:p>
            <a:pPr lvl="1"/>
            <a:r>
              <a:rPr lang="en-US" dirty="0"/>
              <a:t>Formalizing &amp; Defining new UI</a:t>
            </a:r>
          </a:p>
          <a:p>
            <a:pPr lvl="1"/>
            <a:r>
              <a:rPr lang="en-US" dirty="0"/>
              <a:t>Problem Definition 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Experiments </a:t>
            </a:r>
          </a:p>
          <a:p>
            <a:pPr lvl="1"/>
            <a:r>
              <a:rPr lang="en-US" dirty="0"/>
              <a:t>Test Harness</a:t>
            </a:r>
          </a:p>
          <a:p>
            <a:pPr lvl="2"/>
            <a:r>
              <a:rPr lang="en-US" dirty="0"/>
              <a:t>LLMs : Observability, Router &amp; Visualizations</a:t>
            </a:r>
          </a:p>
          <a:p>
            <a:pPr lvl="1"/>
            <a:r>
              <a:rPr lang="en-US" dirty="0"/>
              <a:t>Defining Objectives</a:t>
            </a:r>
          </a:p>
          <a:p>
            <a:pPr lvl="1"/>
            <a:r>
              <a:rPr lang="en-US" dirty="0"/>
              <a:t>Comparative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62ADD-C5B5-62DD-714B-1084E271CD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63155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99D8-07B3-4BD1-53B2-F3430766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A4699-0788-863C-8FBA-29A4CBC8D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C2BBA-A4FE-6EAD-949A-51DA78B93F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4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79690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4BEA-C7D2-796A-3129-E32A18EF0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Harness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F75A3E-63DE-6891-BC09-1FA9E557E0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24B5BF7-5E23-4799-AE4B-7889B3EF6D9A}" type="slidenum">
              <a:rPr lang="en-GB" altLang="zh-TW" smtClean="0"/>
              <a:pPr>
                <a:defRPr/>
              </a:pPr>
              <a:t>5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55130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3DE8-7A08-F266-B88C-F3EDE314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Feb 2026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D11C1-43C5-82F5-7499-F2C72DF9C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E24D6-B432-76F8-6C2F-4D2153F0F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697744F-1D14-4CD6-BBFC-256508C86341}" type="slidenum">
              <a:rPr lang="en-GB" altLang="zh-TW"/>
              <a:pPr>
                <a:defRPr/>
              </a:pPr>
              <a:t>6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618255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662CC9-DCA0-F8C8-E033-01477A67E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1DE21ABF-27CE-8D06-6458-23C90D153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81413"/>
            <a:ext cx="8091488" cy="648512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zh-TW" sz="3600" b="1"/>
              <a:t>Testing Language Mediated GUIs</a:t>
            </a:r>
          </a:p>
        </p:txBody>
      </p:sp>
      <p:sp>
        <p:nvSpPr>
          <p:cNvPr id="4099" name="TextBox 1">
            <a:extLst>
              <a:ext uri="{FF2B5EF4-FFF2-40B4-BE49-F238E27FC236}">
                <a16:creationId xmlns:a16="http://schemas.microsoft.com/office/drawing/2014/main" id="{4A97DAC4-5A67-1CEE-E1FD-A57173AF2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816" y="6276587"/>
            <a:ext cx="5738366" cy="357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1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1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1"/>
                </a:solidFill>
                <a:latin typeface="Aptos" panose="020B0004020202020204" pitchFamily="34" charset="0"/>
              </a:rPr>
              <a:t>Creating a Chart – Traditional (left) vs Language Assisted (Right)</a:t>
            </a:r>
          </a:p>
        </p:txBody>
      </p:sp>
      <p:sp>
        <p:nvSpPr>
          <p:cNvPr id="4100" name="TextBox 1">
            <a:extLst>
              <a:ext uri="{FF2B5EF4-FFF2-40B4-BE49-F238E27FC236}">
                <a16:creationId xmlns:a16="http://schemas.microsoft.com/office/drawing/2014/main" id="{08DAC3E3-48EE-72A4-02B5-765F9D8A4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621" y="1422838"/>
            <a:ext cx="3700757" cy="391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1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1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chemeClr val="tx1"/>
                </a:solidFill>
                <a:latin typeface="Aptos" panose="020B0004020202020204" pitchFamily="34" charset="0"/>
              </a:rPr>
              <a:t>Chaudhari, Ninad &amp; Kuri, Sharmista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4B81A9-CE81-D905-C8B4-89406E7A23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403"/>
          <a:stretch>
            <a:fillRect/>
          </a:stretch>
        </p:blipFill>
        <p:spPr>
          <a:xfrm>
            <a:off x="182739" y="2195262"/>
            <a:ext cx="5140812" cy="30500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9D6BC2-1C82-C389-6A37-3C8888BCE7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947" t="8287" r="9819" b="65009"/>
          <a:stretch>
            <a:fillRect/>
          </a:stretch>
        </p:blipFill>
        <p:spPr>
          <a:xfrm>
            <a:off x="5207744" y="3767931"/>
            <a:ext cx="3015462" cy="21158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ABB6F0-CFE6-EC1A-E4FB-D3A6A7A40B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24B5BF7-5E23-4799-AE4B-7889B3EF6D9A}" type="slidenum">
              <a:rPr lang="en-GB" altLang="zh-TW" smtClean="0"/>
              <a:pPr>
                <a:defRPr/>
              </a:pPr>
              <a:t>7</a:t>
            </a:fld>
            <a:endParaRPr lang="en-GB" altLang="zh-TW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97CAF-0F0A-D20F-4423-6DEB5B9EFB2C}"/>
              </a:ext>
            </a:extLst>
          </p:cNvPr>
          <p:cNvSpPr txBox="1"/>
          <p:nvPr/>
        </p:nvSpPr>
        <p:spPr>
          <a:xfrm>
            <a:off x="7889358" y="22328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5658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59F8-8911-3FB2-5F44-FC31B7FACB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0D989-CADF-A4A6-CC93-BEA2339A31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1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24B56-2A88-31BC-CCD1-CCE7F05A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2999"/>
              </a:lnSpc>
            </a:pPr>
            <a:r>
              <a:rPr lang="en-US" dirty="0">
                <a:cs typeface="Arial"/>
              </a:rPr>
              <a:t>What is an E2E Test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7A9C2-3269-677F-D1B9-0BFF7DC951B6}"/>
              </a:ext>
            </a:extLst>
          </p:cNvPr>
          <p:cNvSpPr txBox="1"/>
          <p:nvPr/>
        </p:nvSpPr>
        <p:spPr>
          <a:xfrm>
            <a:off x="368865" y="1796902"/>
            <a:ext cx="826187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Consider this problem, 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You are tasked with building a feature for a web app.</a:t>
            </a:r>
            <a:b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Let’s look at an app that you just built, - 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hlinkClick r:id="rId2"/>
              </a:rPr>
              <a:t>E-Commerce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or 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hlinkClick r:id="rId3"/>
              </a:rPr>
              <a:t>Robo Coasters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You are confident that the code is correct to the best of your knowledge </a:t>
            </a:r>
          </a:p>
          <a:p>
            <a:pPr marL="742950" lvl="1" indent="-285750">
              <a:buFontTx/>
              <a:buChar char="-"/>
            </a:pP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Do you take it for it’s face value? – Most don’t. 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The first thing we do is test out a few scenarios </a:t>
            </a:r>
          </a:p>
          <a:p>
            <a:pPr marL="1200150" lvl="2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Say buying a ticket, from a 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user’s perspective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  <a:p>
            <a:pPr marL="1200150" lvl="2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You try out specific 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“user flows”</a:t>
            </a:r>
          </a:p>
          <a:p>
            <a:pPr lvl="2"/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This Methodology that validates the entire software application's workflow 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from start to the finish</a:t>
            </a:r>
          </a:p>
          <a:p>
            <a:pPr marL="1200150" lvl="2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Does not matter if you only worked on frontend or the backend.</a:t>
            </a:r>
          </a:p>
          <a:p>
            <a:pPr marL="1200150" lvl="2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Does not matter how small / big the change… 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E2E implies 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evaluating a complete “flow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”, 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considering the application is a black box!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55627-2304-2AF6-0DBF-55D1A8DDF5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24B5BF7-5E23-4799-AE4B-7889B3EF6D9A}" type="slidenum">
              <a:rPr lang="en-GB" altLang="zh-TW" smtClean="0"/>
              <a:pPr>
                <a:defRPr/>
              </a:pPr>
              <a:t>9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642057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4E59-59C6-AF47-4078-6264AA64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F2BEA-44F8-69C9-9E18-58B0E60FE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Select a </a:t>
            </a:r>
            <a:r>
              <a:rPr lang="en-US" altLang="en-US" b="1" dirty="0">
                <a:solidFill>
                  <a:schemeClr val="tx1"/>
                </a:solidFill>
                <a:latin typeface="Aptos" panose="020B0004020202020204" pitchFamily="34" charset="0"/>
              </a:rPr>
              <a:t>Test Input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 from the input domain.</a:t>
            </a:r>
            <a:br>
              <a:rPr lang="en-US" altLang="en-US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342900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You feed that input into the </a:t>
            </a:r>
            <a:r>
              <a:rPr lang="en-US" altLang="en-US" b="1" dirty="0">
                <a:solidFill>
                  <a:schemeClr val="tx1"/>
                </a:solidFill>
                <a:latin typeface="Aptos" panose="020B0004020202020204" pitchFamily="34" charset="0"/>
              </a:rPr>
              <a:t>SUT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  <a:br>
              <a:rPr lang="en-US" altLang="en-US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342900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The SUT produces an </a:t>
            </a:r>
            <a:r>
              <a:rPr lang="en-US" altLang="en-US" b="1" dirty="0">
                <a:solidFill>
                  <a:schemeClr val="tx1"/>
                </a:solidFill>
                <a:latin typeface="Aptos" panose="020B0004020202020204" pitchFamily="34" charset="0"/>
              </a:rPr>
              <a:t>Actual Output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  <a:br>
              <a:rPr lang="en-US" altLang="en-US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342900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The </a:t>
            </a:r>
            <a:r>
              <a:rPr lang="en-US" altLang="en-US" b="1" dirty="0">
                <a:solidFill>
                  <a:schemeClr val="tx1"/>
                </a:solidFill>
                <a:latin typeface="Aptos" panose="020B0004020202020204" pitchFamily="34" charset="0"/>
              </a:rPr>
              <a:t>Test Oracle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 compares that Actual Output to the </a:t>
            </a:r>
            <a:r>
              <a:rPr lang="en-US" altLang="en-US" b="1" dirty="0">
                <a:solidFill>
                  <a:schemeClr val="tx1"/>
                </a:solidFill>
                <a:latin typeface="Aptos" panose="020B0004020202020204" pitchFamily="34" charset="0"/>
              </a:rPr>
              <a:t>Expected Output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  <a:br>
              <a:rPr lang="en-US" altLang="en-US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342900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The Oracle issues a verdict: </a:t>
            </a:r>
            <a:r>
              <a:rPr lang="en-US" altLang="en-US" b="1" dirty="0">
                <a:solidFill>
                  <a:schemeClr val="tx1"/>
                </a:solidFill>
                <a:latin typeface="Aptos" panose="020B0004020202020204" pitchFamily="34" charset="0"/>
              </a:rPr>
              <a:t>Pass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 or </a:t>
            </a:r>
            <a:r>
              <a:rPr lang="en-US" altLang="en-US" b="1" dirty="0">
                <a:solidFill>
                  <a:schemeClr val="tx1"/>
                </a:solidFill>
                <a:latin typeface="Aptos" panose="020B0004020202020204" pitchFamily="34" charset="0"/>
              </a:rPr>
              <a:t>Fail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A1D84-499C-7AEF-29CB-811A5E54A3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10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071517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10F1-DEF0-3C35-3914-56B213C4C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C811A62-3267-49FA-0ED1-950EA0CE2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5515155"/>
                  </p:ext>
                </p:extLst>
              </p:nvPr>
            </p:nvGraphicFramePr>
            <p:xfrm>
              <a:off x="1828006" y="1737306"/>
              <a:ext cx="5483226" cy="3383387"/>
            </p:xfrm>
            <a:graphic>
              <a:graphicData uri="http://schemas.openxmlformats.org/drawingml/2006/table">
                <a:tbl>
                  <a:tblPr firstRow="1">
                    <a:tableStyleId>{9D7B26C5-4107-4FEC-AEDC-1716B250A1EF}</a:tableStyleId>
                  </a:tblPr>
                  <a:tblGrid>
                    <a:gridCol w="2741613">
                      <a:extLst>
                        <a:ext uri="{9D8B030D-6E8A-4147-A177-3AD203B41FA5}">
                          <a16:colId xmlns:a16="http://schemas.microsoft.com/office/drawing/2014/main" val="3568914502"/>
                        </a:ext>
                      </a:extLst>
                    </a:gridCol>
                    <a:gridCol w="2741613">
                      <a:extLst>
                        <a:ext uri="{9D8B030D-6E8A-4147-A177-3AD203B41FA5}">
                          <a16:colId xmlns:a16="http://schemas.microsoft.com/office/drawing/2014/main" val="3581441358"/>
                        </a:ext>
                      </a:extLst>
                    </a:gridCol>
                  </a:tblGrid>
                  <a:tr h="426827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Component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Formal Role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17105714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SUT (System Under Test)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Function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69225675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Test Input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Variable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71465285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Expected Output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Goal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87913508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</a:rPr>
                            <a:t>Test Oracle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Comparator/Judge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62034915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</a:rPr>
                            <a:t>Test Suite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Set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lit/>
                                </m:rP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b>
                                <m:sSubPr>
                                  <m:ctrlPr>
                                    <a:rPr lang="en-US" sz="1800" b="1" i="1" dirty="0" smtClean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1800" b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1" i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1800" b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1" i="1" dirty="0" err="1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dirty="0" err="1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1800" b="1" dirty="0" err="1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365998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C811A62-3267-49FA-0ED1-950EA0CE2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5515155"/>
                  </p:ext>
                </p:extLst>
              </p:nvPr>
            </p:nvGraphicFramePr>
            <p:xfrm>
              <a:off x="1828006" y="1737306"/>
              <a:ext cx="5483226" cy="3383387"/>
            </p:xfrm>
            <a:graphic>
              <a:graphicData uri="http://schemas.openxmlformats.org/drawingml/2006/table">
                <a:tbl>
                  <a:tblPr firstRow="1">
                    <a:tableStyleId>{9D7B26C5-4107-4FEC-AEDC-1716B250A1EF}</a:tableStyleId>
                  </a:tblPr>
                  <a:tblGrid>
                    <a:gridCol w="2741613">
                      <a:extLst>
                        <a:ext uri="{9D8B030D-6E8A-4147-A177-3AD203B41FA5}">
                          <a16:colId xmlns:a16="http://schemas.microsoft.com/office/drawing/2014/main" val="3568914502"/>
                        </a:ext>
                      </a:extLst>
                    </a:gridCol>
                    <a:gridCol w="2741613">
                      <a:extLst>
                        <a:ext uri="{9D8B030D-6E8A-4147-A177-3AD203B41FA5}">
                          <a16:colId xmlns:a16="http://schemas.microsoft.com/office/drawing/2014/main" val="3581441358"/>
                        </a:ext>
                      </a:extLst>
                    </a:gridCol>
                  </a:tblGrid>
                  <a:tr h="426827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Component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Formal Role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17105714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SUT (System Under Test)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100463" t="-63636" r="-463" b="-3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225675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Test Input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100463" t="-264706" r="-463" b="-4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465285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Expected Output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100463" t="-364706" r="-463" b="-3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913508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</a:rPr>
                            <a:t>Test Oracle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Comparator/Judge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62034915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</a:rPr>
                            <a:t>Test Suite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100463" t="-380357" r="-463" b="-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59984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039CC-E5AE-9677-0FCC-91D634E00F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11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662707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6E3B7-A1FF-2EFF-87CD-2BCB5A4EC7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End-to-End Tests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5DF5F-C9BD-46E8-933C-676C2099E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934" y="3879806"/>
            <a:ext cx="7622132" cy="1752600"/>
          </a:xfrm>
        </p:spPr>
        <p:txBody>
          <a:bodyPr/>
          <a:lstStyle/>
          <a:p>
            <a:r>
              <a:rPr lang="en-US" dirty="0"/>
              <a:t>for </a:t>
            </a:r>
            <a:r>
              <a:rPr lang="en-US" i="1" dirty="0"/>
              <a:t>Direct Manipulation GUIs (DM-GUI) </a:t>
            </a:r>
            <a:r>
              <a:rPr lang="en-US" sz="1800" dirty="0"/>
              <a:t>[1]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D4F82-5EFF-2107-1D05-DED7E7496554}"/>
              </a:ext>
            </a:extLst>
          </p:cNvPr>
          <p:cNvSpPr txBox="1"/>
          <p:nvPr/>
        </p:nvSpPr>
        <p:spPr>
          <a:xfrm>
            <a:off x="-63944" y="6427113"/>
            <a:ext cx="91439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[1] C. Görner, P. Vossen, and J. Ziegler, "Direct Manipulation User Interface," in </a:t>
            </a:r>
            <a:r>
              <a:rPr lang="en-US" sz="1050" i="1" dirty="0">
                <a:solidFill>
                  <a:schemeClr val="tx1"/>
                </a:solidFill>
              </a:rPr>
              <a:t>Human Factors in Information Technology</a:t>
            </a:r>
            <a:r>
              <a:rPr lang="en-US" sz="1050" dirty="0">
                <a:solidFill>
                  <a:schemeClr val="tx1"/>
                </a:solidFill>
              </a:rPr>
              <a:t>, vol. 9, M. Galer, S. Harker, and J. Ziegler, Eds. Amsterdam, Netherlands: North-Holland, 1992, </a:t>
            </a:r>
            <a:r>
              <a:rPr lang="en-US" sz="1050" dirty="0" err="1">
                <a:solidFill>
                  <a:schemeClr val="tx1"/>
                </a:solidFill>
              </a:rPr>
              <a:t>ch.</a:t>
            </a:r>
            <a:r>
              <a:rPr lang="en-US" sz="1050" dirty="0">
                <a:solidFill>
                  <a:schemeClr val="tx1"/>
                </a:solidFill>
              </a:rPr>
              <a:t> 8, pp. 237–279. </a:t>
            </a:r>
            <a:r>
              <a:rPr lang="en-US" sz="1050" dirty="0" err="1">
                <a:solidFill>
                  <a:schemeClr val="tx1"/>
                </a:solidFill>
              </a:rPr>
              <a:t>doi</a:t>
            </a:r>
            <a:r>
              <a:rPr lang="en-US" sz="1050" dirty="0">
                <a:solidFill>
                  <a:schemeClr val="tx1"/>
                </a:solidFill>
              </a:rPr>
              <a:t>: 10.1016/B978-0-444-89301-7.50014-9.</a:t>
            </a:r>
          </a:p>
        </p:txBody>
      </p:sp>
    </p:spTree>
    <p:extLst>
      <p:ext uri="{BB962C8B-B14F-4D97-AF65-F5344CB8AC3E}">
        <p14:creationId xmlns:p14="http://schemas.microsoft.com/office/powerpoint/2010/main" val="3954843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46D7-CD93-E57B-6167-B9B7407FB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to End Tests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86266F-3EAA-A0A4-0A4F-C785E71002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4711" y="1644322"/>
            <a:ext cx="556466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Scope:</a:t>
            </a:r>
            <a: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 System-wide</a:t>
            </a:r>
            <a:b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alt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Perspective:</a:t>
            </a:r>
            <a: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 User-centric</a:t>
            </a:r>
            <a:b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alt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Validation:</a:t>
            </a:r>
            <a: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 Workflow integrity</a:t>
            </a:r>
            <a:b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alt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Environment:</a:t>
            </a:r>
            <a: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 Production-like</a:t>
            </a:r>
            <a:b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alt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Dependency:</a:t>
            </a:r>
            <a: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 Integrated components</a:t>
            </a:r>
            <a:b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alt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Goal:</a:t>
            </a:r>
            <a:r>
              <a:rPr lang="en-US" alt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 Functional correctness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52F1A2-0845-6643-2AB2-31193CF37C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13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986160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4D1E-E5CE-CE25-B282-C15EF6CF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Automated</a:t>
            </a:r>
            <a:r>
              <a:rPr lang="en-US" dirty="0"/>
              <a:t> E2E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B2F7D-73BE-DE8C-5E4E-26A440782213}"/>
              </a:ext>
            </a:extLst>
          </p:cNvPr>
          <p:cNvSpPr txBox="1"/>
          <p:nvPr/>
        </p:nvSpPr>
        <p:spPr>
          <a:xfrm>
            <a:off x="1920881" y="5720972"/>
            <a:ext cx="529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rgbClr val="7030A0"/>
                </a:solidFill>
              </a:rPr>
              <a:t>niche</a:t>
            </a:r>
            <a:r>
              <a:rPr lang="en-US" dirty="0">
                <a:solidFill>
                  <a:schemeClr val="tx1"/>
                </a:solidFill>
              </a:rPr>
              <a:t> in Software Testing Academic Community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C1FD9-D9A5-50AD-50E3-BD343171B9B4}"/>
              </a:ext>
            </a:extLst>
          </p:cNvPr>
          <p:cNvSpPr txBox="1"/>
          <p:nvPr/>
        </p:nvSpPr>
        <p:spPr>
          <a:xfrm>
            <a:off x="849665" y="1537487"/>
            <a:ext cx="77521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Automated End-to-End (E2E) Testing </a:t>
            </a:r>
            <a:r>
              <a:rPr lang="en-US" dirty="0">
                <a:solidFill>
                  <a:schemeClr val="tx1"/>
                </a:solidFill>
              </a:rPr>
              <a:t>refers to a </a:t>
            </a:r>
            <a:r>
              <a:rPr lang="en-US" b="1" dirty="0">
                <a:solidFill>
                  <a:schemeClr val="tx1"/>
                </a:solidFill>
              </a:rPr>
              <a:t>verification</a:t>
            </a:r>
            <a:r>
              <a:rPr lang="en-US" dirty="0">
                <a:solidFill>
                  <a:schemeClr val="tx1"/>
                </a:solidFill>
              </a:rPr>
              <a:t> methodology that validates the complete </a:t>
            </a:r>
            <a:r>
              <a:rPr lang="en-US" b="1" dirty="0">
                <a:solidFill>
                  <a:schemeClr val="tx1"/>
                </a:solidFill>
              </a:rPr>
              <a:t>functional flow</a:t>
            </a:r>
            <a:r>
              <a:rPr lang="en-US" dirty="0">
                <a:solidFill>
                  <a:schemeClr val="tx1"/>
                </a:solidFill>
              </a:rPr>
              <a:t> of a system from the </a:t>
            </a:r>
            <a:r>
              <a:rPr lang="en-US" b="1" dirty="0">
                <a:solidFill>
                  <a:schemeClr val="tx1"/>
                </a:solidFill>
              </a:rPr>
              <a:t>user's perspective </a:t>
            </a:r>
            <a:r>
              <a:rPr lang="en-US" dirty="0">
                <a:solidFill>
                  <a:schemeClr val="tx1"/>
                </a:solidFill>
              </a:rPr>
              <a:t>by simulating </a:t>
            </a:r>
            <a:r>
              <a:rPr lang="en-US" b="1" dirty="0">
                <a:solidFill>
                  <a:schemeClr val="tx1"/>
                </a:solidFill>
              </a:rPr>
              <a:t>real-world transactions via </a:t>
            </a:r>
            <a:r>
              <a:rPr lang="en-US" b="1" dirty="0">
                <a:solidFill>
                  <a:srgbClr val="7030A0"/>
                </a:solidFill>
              </a:rPr>
              <a:t>automated scrips</a:t>
            </a:r>
            <a:r>
              <a:rPr lang="en-US" dirty="0">
                <a:solidFill>
                  <a:srgbClr val="7030A0"/>
                </a:solidFill>
              </a:rPr>
              <a:t>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 evaluates the interoperability of all integrated components, </a:t>
            </a:r>
            <a:r>
              <a:rPr lang="en-US" i="1" dirty="0">
                <a:solidFill>
                  <a:schemeClr val="tx1"/>
                </a:solidFill>
              </a:rPr>
              <a:t>the frontend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>
                <a:solidFill>
                  <a:schemeClr val="tx1"/>
                </a:solidFill>
              </a:rPr>
              <a:t>backend</a:t>
            </a:r>
            <a:r>
              <a:rPr lang="en-US" dirty="0">
                <a:solidFill>
                  <a:schemeClr val="tx1"/>
                </a:solidFill>
              </a:rPr>
              <a:t> services, and external </a:t>
            </a:r>
            <a:r>
              <a:rPr lang="en-US" i="1" dirty="0">
                <a:solidFill>
                  <a:schemeClr val="tx1"/>
                </a:solidFill>
              </a:rPr>
              <a:t>dependencies, </a:t>
            </a:r>
            <a:r>
              <a:rPr lang="en-US" dirty="0">
                <a:solidFill>
                  <a:schemeClr val="tx1"/>
                </a:solidFill>
              </a:rPr>
              <a:t>without manual intervention to ensure the software satisfies high-level business requirements as a </a:t>
            </a:r>
            <a:r>
              <a:rPr lang="en-US" b="1" dirty="0">
                <a:solidFill>
                  <a:schemeClr val="tx1"/>
                </a:solidFill>
              </a:rPr>
              <a:t>unified whole </a:t>
            </a:r>
            <a:r>
              <a:rPr lang="en-US" dirty="0">
                <a:solidFill>
                  <a:schemeClr val="tx1"/>
                </a:solidFill>
              </a:rPr>
              <a:t>[1,2,3].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448F3-432C-4FF7-A891-72A0B50D94DB}"/>
              </a:ext>
            </a:extLst>
          </p:cNvPr>
          <p:cNvSpPr txBox="1"/>
          <p:nvPr/>
        </p:nvSpPr>
        <p:spPr>
          <a:xfrm>
            <a:off x="849664" y="4122810"/>
            <a:ext cx="8058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[1] Alian et al., "A Feature-Based Approach to Generating Comprehensive End-to-End Tests," ICSE 2025.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[2] B. García et al., "Test automation with Selenium: A survey," Information and Software Technology, vol. 182, 2026.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[3] ISO/IEC/IEEE. (2022). Software and systems engineering — Software testing — Part 1: General concepts 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(ISO/IEC/IEEE 29119-1:2022). International Organization for Standardization.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5F490-0559-819D-C0E8-FD4E81AD7E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24B5BF7-5E23-4799-AE4B-7889B3EF6D9A}" type="slidenum">
              <a:rPr lang="en-GB" altLang="zh-TW" smtClean="0"/>
              <a:pPr>
                <a:defRPr/>
              </a:pPr>
              <a:t>14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543055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D54F7E-825A-4BBA-815F-35CCA8B9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3664D-BF59-918C-5BD8-7161D55758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634"/>
          <a:stretch>
            <a:fillRect/>
          </a:stretch>
        </p:blipFill>
        <p:spPr>
          <a:xfrm>
            <a:off x="0" y="-151508"/>
            <a:ext cx="9143980" cy="7009508"/>
          </a:xfrm>
          <a:custGeom>
            <a:avLst/>
            <a:gdLst/>
            <a:ahLst/>
            <a:cxnLst/>
            <a:rect l="l" t="t" r="r" b="b"/>
            <a:pathLst>
              <a:path w="12191999" h="6842601">
                <a:moveTo>
                  <a:pt x="0" y="0"/>
                </a:moveTo>
                <a:lnTo>
                  <a:pt x="12191999" y="0"/>
                </a:lnTo>
                <a:lnTo>
                  <a:pt x="12191999" y="6842601"/>
                </a:lnTo>
                <a:lnTo>
                  <a:pt x="10316981" y="6842601"/>
                </a:lnTo>
                <a:cubicBezTo>
                  <a:pt x="10312796" y="6835189"/>
                  <a:pt x="10163183" y="6730124"/>
                  <a:pt x="10158998" y="6722712"/>
                </a:cubicBezTo>
                <a:cubicBezTo>
                  <a:pt x="10120278" y="6678190"/>
                  <a:pt x="10156462" y="6716223"/>
                  <a:pt x="10090349" y="6671420"/>
                </a:cubicBezTo>
                <a:cubicBezTo>
                  <a:pt x="10043032" y="6655694"/>
                  <a:pt x="9995855" y="6551879"/>
                  <a:pt x="9955425" y="6498018"/>
                </a:cubicBezTo>
                <a:cubicBezTo>
                  <a:pt x="9939618" y="6480021"/>
                  <a:pt x="9915110" y="6461677"/>
                  <a:pt x="9891265" y="6454528"/>
                </a:cubicBezTo>
                <a:cubicBezTo>
                  <a:pt x="9868239" y="6464957"/>
                  <a:pt x="9865423" y="6431640"/>
                  <a:pt x="9848227" y="6426063"/>
                </a:cubicBezTo>
                <a:cubicBezTo>
                  <a:pt x="9838059" y="6433162"/>
                  <a:pt x="9815047" y="6410348"/>
                  <a:pt x="9812354" y="6399604"/>
                </a:cubicBezTo>
                <a:cubicBezTo>
                  <a:pt x="9825285" y="6377997"/>
                  <a:pt x="9725923" y="6372757"/>
                  <a:pt x="9725915" y="6356381"/>
                </a:cubicBezTo>
                <a:cubicBezTo>
                  <a:pt x="9696279" y="6348066"/>
                  <a:pt x="9591199" y="6354143"/>
                  <a:pt x="9575033" y="6325258"/>
                </a:cubicBezTo>
                <a:cubicBezTo>
                  <a:pt x="9516434" y="6303128"/>
                  <a:pt x="9441613" y="6276805"/>
                  <a:pt x="9415626" y="6271777"/>
                </a:cubicBezTo>
                <a:cubicBezTo>
                  <a:pt x="9378293" y="6313495"/>
                  <a:pt x="9281935" y="6171365"/>
                  <a:pt x="9171493" y="6150430"/>
                </a:cubicBezTo>
                <a:cubicBezTo>
                  <a:pt x="9155426" y="6152396"/>
                  <a:pt x="9147439" y="6151015"/>
                  <a:pt x="9146018" y="6139864"/>
                </a:cubicBezTo>
                <a:cubicBezTo>
                  <a:pt x="9112029" y="6132441"/>
                  <a:pt x="9087339" y="6101138"/>
                  <a:pt x="9059635" y="6109957"/>
                </a:cubicBezTo>
                <a:cubicBezTo>
                  <a:pt x="9024424" y="6092144"/>
                  <a:pt x="9043048" y="6078417"/>
                  <a:pt x="9010911" y="6064789"/>
                </a:cubicBezTo>
                <a:lnTo>
                  <a:pt x="8866811" y="6028191"/>
                </a:lnTo>
                <a:cubicBezTo>
                  <a:pt x="8846465" y="6021172"/>
                  <a:pt x="8825221" y="6000527"/>
                  <a:pt x="8804584" y="5994237"/>
                </a:cubicBezTo>
                <a:lnTo>
                  <a:pt x="8783071" y="5990448"/>
                </a:lnTo>
                <a:lnTo>
                  <a:pt x="8770456" y="5978060"/>
                </a:lnTo>
                <a:cubicBezTo>
                  <a:pt x="8764772" y="5975259"/>
                  <a:pt x="8757695" y="5974720"/>
                  <a:pt x="8748297" y="5978070"/>
                </a:cubicBezTo>
                <a:cubicBezTo>
                  <a:pt x="8730344" y="5973495"/>
                  <a:pt x="8679808" y="5955894"/>
                  <a:pt x="8662742" y="5950603"/>
                </a:cubicBezTo>
                <a:lnTo>
                  <a:pt x="8645902" y="5946326"/>
                </a:lnTo>
                <a:lnTo>
                  <a:pt x="8638176" y="5938358"/>
                </a:lnTo>
                <a:cubicBezTo>
                  <a:pt x="8625897" y="5932642"/>
                  <a:pt x="8594811" y="5922073"/>
                  <a:pt x="8572224" y="5912032"/>
                </a:cubicBezTo>
                <a:cubicBezTo>
                  <a:pt x="8553809" y="5897782"/>
                  <a:pt x="8529845" y="5886100"/>
                  <a:pt x="8502655" y="5878114"/>
                </a:cubicBezTo>
                <a:cubicBezTo>
                  <a:pt x="8496990" y="5883034"/>
                  <a:pt x="8489611" y="5872566"/>
                  <a:pt x="8485159" y="5869819"/>
                </a:cubicBezTo>
                <a:cubicBezTo>
                  <a:pt x="8483457" y="5873482"/>
                  <a:pt x="8471232" y="5872664"/>
                  <a:pt x="8468539" y="5868711"/>
                </a:cubicBezTo>
                <a:cubicBezTo>
                  <a:pt x="8389167" y="5836352"/>
                  <a:pt x="8421742" y="5881497"/>
                  <a:pt x="8379810" y="5849376"/>
                </a:cubicBezTo>
                <a:cubicBezTo>
                  <a:pt x="8371729" y="5846373"/>
                  <a:pt x="8364483" y="5846766"/>
                  <a:pt x="8357758" y="5848601"/>
                </a:cubicBezTo>
                <a:lnTo>
                  <a:pt x="8315264" y="5836192"/>
                </a:lnTo>
                <a:cubicBezTo>
                  <a:pt x="8299077" y="5829531"/>
                  <a:pt x="8281671" y="5824011"/>
                  <a:pt x="8263455" y="5819793"/>
                </a:cubicBezTo>
                <a:cubicBezTo>
                  <a:pt x="8257386" y="5826849"/>
                  <a:pt x="8245582" y="5813448"/>
                  <a:pt x="8239287" y="5810141"/>
                </a:cubicBezTo>
                <a:cubicBezTo>
                  <a:pt x="8237965" y="5815186"/>
                  <a:pt x="8222226" y="5815108"/>
                  <a:pt x="8217888" y="5810039"/>
                </a:cubicBezTo>
                <a:cubicBezTo>
                  <a:pt x="8109447" y="5773303"/>
                  <a:pt x="8161302" y="5831037"/>
                  <a:pt x="8100547" y="5791517"/>
                </a:cubicBezTo>
                <a:cubicBezTo>
                  <a:pt x="8089574" y="5788167"/>
                  <a:pt x="8080448" y="5789295"/>
                  <a:pt x="8072316" y="5792309"/>
                </a:cubicBezTo>
                <a:lnTo>
                  <a:pt x="8056967" y="5800648"/>
                </a:lnTo>
                <a:lnTo>
                  <a:pt x="8047885" y="5795270"/>
                </a:lnTo>
                <a:cubicBezTo>
                  <a:pt x="8010204" y="5788738"/>
                  <a:pt x="7996426" y="5797608"/>
                  <a:pt x="7977128" y="5783189"/>
                </a:cubicBezTo>
                <a:cubicBezTo>
                  <a:pt x="7943466" y="5775577"/>
                  <a:pt x="7904823" y="5770953"/>
                  <a:pt x="7874392" y="5763715"/>
                </a:cubicBezTo>
                <a:cubicBezTo>
                  <a:pt x="7860337" y="5743777"/>
                  <a:pt x="7817541" y="5748989"/>
                  <a:pt x="7794543" y="5739759"/>
                </a:cubicBezTo>
                <a:cubicBezTo>
                  <a:pt x="7784688" y="5731467"/>
                  <a:pt x="7776709" y="5729004"/>
                  <a:pt x="7763762" y="5734031"/>
                </a:cubicBezTo>
                <a:cubicBezTo>
                  <a:pt x="7718781" y="5694154"/>
                  <a:pt x="7732231" y="5727368"/>
                  <a:pt x="7685889" y="5707234"/>
                </a:cubicBezTo>
                <a:cubicBezTo>
                  <a:pt x="7646521" y="5687607"/>
                  <a:pt x="7600389" y="5671470"/>
                  <a:pt x="7566744" y="5634586"/>
                </a:cubicBezTo>
                <a:cubicBezTo>
                  <a:pt x="7561306" y="5624813"/>
                  <a:pt x="7543589" y="5618525"/>
                  <a:pt x="7527170" y="5620542"/>
                </a:cubicBezTo>
                <a:cubicBezTo>
                  <a:pt x="7524343" y="5620889"/>
                  <a:pt x="7521664" y="5621475"/>
                  <a:pt x="7519214" y="5622280"/>
                </a:cubicBezTo>
                <a:cubicBezTo>
                  <a:pt x="7500062" y="5596964"/>
                  <a:pt x="7480476" y="5604337"/>
                  <a:pt x="7473157" y="5588143"/>
                </a:cubicBezTo>
                <a:cubicBezTo>
                  <a:pt x="7433415" y="5574859"/>
                  <a:pt x="7395118" y="5582388"/>
                  <a:pt x="7388000" y="5568063"/>
                </a:cubicBezTo>
                <a:cubicBezTo>
                  <a:pt x="7366403" y="5564920"/>
                  <a:pt x="7332262" y="5573848"/>
                  <a:pt x="7320876" y="5557698"/>
                </a:cubicBezTo>
                <a:cubicBezTo>
                  <a:pt x="7314891" y="5568111"/>
                  <a:pt x="7299319" y="5544964"/>
                  <a:pt x="7284480" y="5549820"/>
                </a:cubicBezTo>
                <a:cubicBezTo>
                  <a:pt x="7273570" y="5554430"/>
                  <a:pt x="7266301" y="5548483"/>
                  <a:pt x="7256619" y="5546379"/>
                </a:cubicBezTo>
                <a:cubicBezTo>
                  <a:pt x="7242503" y="5549088"/>
                  <a:pt x="7202543" y="5533379"/>
                  <a:pt x="7193112" y="5525289"/>
                </a:cubicBezTo>
                <a:cubicBezTo>
                  <a:pt x="7172259" y="5499151"/>
                  <a:pt x="7108617" y="5505485"/>
                  <a:pt x="7090943" y="5485177"/>
                </a:cubicBezTo>
                <a:cubicBezTo>
                  <a:pt x="7083637" y="5481419"/>
                  <a:pt x="7076140" y="5479148"/>
                  <a:pt x="7068566" y="5477809"/>
                </a:cubicBezTo>
                <a:lnTo>
                  <a:pt x="7023035" y="5476595"/>
                </a:lnTo>
                <a:lnTo>
                  <a:pt x="7001197" y="5476163"/>
                </a:lnTo>
                <a:cubicBezTo>
                  <a:pt x="7016126" y="5454256"/>
                  <a:pt x="6943549" y="5466815"/>
                  <a:pt x="6967472" y="5451057"/>
                </a:cubicBezTo>
                <a:cubicBezTo>
                  <a:pt x="6931240" y="5443544"/>
                  <a:pt x="6920843" y="5429649"/>
                  <a:pt x="6883334" y="5418880"/>
                </a:cubicBezTo>
                <a:lnTo>
                  <a:pt x="6742417" y="5386446"/>
                </a:lnTo>
                <a:cubicBezTo>
                  <a:pt x="6690532" y="5366095"/>
                  <a:pt x="6665174" y="5364632"/>
                  <a:pt x="6618315" y="5353085"/>
                </a:cubicBezTo>
                <a:cubicBezTo>
                  <a:pt x="6581698" y="5304210"/>
                  <a:pt x="6547395" y="5315779"/>
                  <a:pt x="6521050" y="5283194"/>
                </a:cubicBezTo>
                <a:cubicBezTo>
                  <a:pt x="6469114" y="5268862"/>
                  <a:pt x="6472597" y="5253957"/>
                  <a:pt x="6414460" y="5253832"/>
                </a:cubicBezTo>
                <a:lnTo>
                  <a:pt x="6362535" y="5220502"/>
                </a:lnTo>
                <a:cubicBezTo>
                  <a:pt x="6350866" y="5213881"/>
                  <a:pt x="6347641" y="5215777"/>
                  <a:pt x="6344443" y="5214103"/>
                </a:cubicBezTo>
                <a:lnTo>
                  <a:pt x="6343344" y="5210454"/>
                </a:lnTo>
                <a:lnTo>
                  <a:pt x="6333344" y="5205307"/>
                </a:lnTo>
                <a:lnTo>
                  <a:pt x="6315602" y="5193288"/>
                </a:lnTo>
                <a:lnTo>
                  <a:pt x="6310442" y="5192802"/>
                </a:lnTo>
                <a:lnTo>
                  <a:pt x="6280815" y="5177420"/>
                </a:lnTo>
                <a:lnTo>
                  <a:pt x="6279533" y="5178045"/>
                </a:lnTo>
                <a:cubicBezTo>
                  <a:pt x="6275980" y="5179097"/>
                  <a:pt x="6272084" y="5179212"/>
                  <a:pt x="6267362" y="5177370"/>
                </a:cubicBezTo>
                <a:cubicBezTo>
                  <a:pt x="6261796" y="5192470"/>
                  <a:pt x="6259530" y="5180933"/>
                  <a:pt x="6246095" y="5174167"/>
                </a:cubicBezTo>
                <a:lnTo>
                  <a:pt x="6155252" y="5161201"/>
                </a:lnTo>
                <a:lnTo>
                  <a:pt x="6148525" y="5158442"/>
                </a:lnTo>
                <a:lnTo>
                  <a:pt x="6148187" y="5158573"/>
                </a:lnTo>
                <a:cubicBezTo>
                  <a:pt x="6146292" y="5158370"/>
                  <a:pt x="6143916" y="5157611"/>
                  <a:pt x="6140686" y="5156032"/>
                </a:cubicBezTo>
                <a:lnTo>
                  <a:pt x="6136260" y="5153413"/>
                </a:lnTo>
                <a:lnTo>
                  <a:pt x="6123208" y="5148061"/>
                </a:lnTo>
                <a:lnTo>
                  <a:pt x="6117367" y="5147451"/>
                </a:lnTo>
                <a:lnTo>
                  <a:pt x="5957305" y="5146062"/>
                </a:lnTo>
                <a:cubicBezTo>
                  <a:pt x="5920540" y="5140405"/>
                  <a:pt x="5887096" y="5142015"/>
                  <a:pt x="5857259" y="5132052"/>
                </a:cubicBezTo>
                <a:cubicBezTo>
                  <a:pt x="5843335" y="5135303"/>
                  <a:pt x="5830921" y="5135493"/>
                  <a:pt x="5821375" y="5125606"/>
                </a:cubicBezTo>
                <a:cubicBezTo>
                  <a:pt x="5786501" y="5122615"/>
                  <a:pt x="5775399" y="5132648"/>
                  <a:pt x="5755916" y="5120171"/>
                </a:cubicBezTo>
                <a:cubicBezTo>
                  <a:pt x="5732132" y="5135438"/>
                  <a:pt x="5732735" y="5128211"/>
                  <a:pt x="5725007" y="5121437"/>
                </a:cubicBezTo>
                <a:lnTo>
                  <a:pt x="5723810" y="5120848"/>
                </a:lnTo>
                <a:lnTo>
                  <a:pt x="5720531" y="5123048"/>
                </a:lnTo>
                <a:lnTo>
                  <a:pt x="5714794" y="5123371"/>
                </a:lnTo>
                <a:lnTo>
                  <a:pt x="5700141" y="5120131"/>
                </a:lnTo>
                <a:lnTo>
                  <a:pt x="5694799" y="5118234"/>
                </a:lnTo>
                <a:cubicBezTo>
                  <a:pt x="5691058" y="5117179"/>
                  <a:pt x="5688491" y="5116804"/>
                  <a:pt x="5686627" y="5116903"/>
                </a:cubicBezTo>
                <a:lnTo>
                  <a:pt x="5686371" y="5117086"/>
                </a:lnTo>
                <a:lnTo>
                  <a:pt x="5678818" y="5115416"/>
                </a:lnTo>
                <a:cubicBezTo>
                  <a:pt x="5666199" y="5112102"/>
                  <a:pt x="5654035" y="5108410"/>
                  <a:pt x="5642547" y="5104511"/>
                </a:cubicBezTo>
                <a:cubicBezTo>
                  <a:pt x="5629444" y="5114945"/>
                  <a:pt x="5588783" y="5093343"/>
                  <a:pt x="5587979" y="5116963"/>
                </a:cubicBezTo>
                <a:cubicBezTo>
                  <a:pt x="5572317" y="5112380"/>
                  <a:pt x="5564904" y="5101292"/>
                  <a:pt x="5566635" y="5117158"/>
                </a:cubicBezTo>
                <a:cubicBezTo>
                  <a:pt x="5561375" y="5116079"/>
                  <a:pt x="5557787" y="5116811"/>
                  <a:pt x="5554952" y="5118417"/>
                </a:cubicBezTo>
                <a:lnTo>
                  <a:pt x="5554039" y="5119241"/>
                </a:lnTo>
                <a:lnTo>
                  <a:pt x="5514253" y="5109018"/>
                </a:lnTo>
                <a:lnTo>
                  <a:pt x="5492156" y="5099904"/>
                </a:lnTo>
                <a:lnTo>
                  <a:pt x="5480446" y="5096385"/>
                </a:lnTo>
                <a:lnTo>
                  <a:pt x="5477744" y="5092939"/>
                </a:lnTo>
                <a:cubicBezTo>
                  <a:pt x="5474490" y="5090581"/>
                  <a:pt x="5469391" y="5088951"/>
                  <a:pt x="5460150" y="5088988"/>
                </a:cubicBezTo>
                <a:lnTo>
                  <a:pt x="5457901" y="5089459"/>
                </a:lnTo>
                <a:lnTo>
                  <a:pt x="5444243" y="5082761"/>
                </a:lnTo>
                <a:cubicBezTo>
                  <a:pt x="5439993" y="5080007"/>
                  <a:pt x="5436418" y="5076805"/>
                  <a:pt x="5433825" y="5072992"/>
                </a:cubicBezTo>
                <a:cubicBezTo>
                  <a:pt x="5379442" y="5082090"/>
                  <a:pt x="5336110" y="5058382"/>
                  <a:pt x="5280996" y="5052402"/>
                </a:cubicBezTo>
                <a:cubicBezTo>
                  <a:pt x="5250806" y="5043777"/>
                  <a:pt x="5168599" y="5048109"/>
                  <a:pt x="5161582" y="5019668"/>
                </a:cubicBezTo>
                <a:cubicBezTo>
                  <a:pt x="5121870" y="5011383"/>
                  <a:pt x="5095637" y="5009222"/>
                  <a:pt x="5042717" y="5002692"/>
                </a:cubicBezTo>
                <a:cubicBezTo>
                  <a:pt x="4991136" y="4972487"/>
                  <a:pt x="4902282" y="4979360"/>
                  <a:pt x="4840514" y="4959306"/>
                </a:cubicBezTo>
                <a:cubicBezTo>
                  <a:pt x="4799904" y="4976415"/>
                  <a:pt x="4824087" y="4958371"/>
                  <a:pt x="4786778" y="4956661"/>
                </a:cubicBezTo>
                <a:cubicBezTo>
                  <a:pt x="4801901" y="4937231"/>
                  <a:pt x="4739845" y="4961208"/>
                  <a:pt x="4743741" y="4937104"/>
                </a:cubicBezTo>
                <a:cubicBezTo>
                  <a:pt x="4736829" y="4937557"/>
                  <a:pt x="4730010" y="4938753"/>
                  <a:pt x="4723136" y="4940138"/>
                </a:cubicBezTo>
                <a:lnTo>
                  <a:pt x="4719535" y="4940850"/>
                </a:lnTo>
                <a:lnTo>
                  <a:pt x="4706143" y="4939586"/>
                </a:lnTo>
                <a:lnTo>
                  <a:pt x="4701098" y="4944372"/>
                </a:lnTo>
                <a:lnTo>
                  <a:pt x="4680034" y="4946157"/>
                </a:lnTo>
                <a:cubicBezTo>
                  <a:pt x="4672339" y="4946029"/>
                  <a:pt x="4664292" y="4944964"/>
                  <a:pt x="4655740" y="4942396"/>
                </a:cubicBezTo>
                <a:cubicBezTo>
                  <a:pt x="4636359" y="4929384"/>
                  <a:pt x="4599700" y="4935346"/>
                  <a:pt x="4569298" y="4929596"/>
                </a:cubicBezTo>
                <a:lnTo>
                  <a:pt x="4555977" y="4924356"/>
                </a:lnTo>
                <a:lnTo>
                  <a:pt x="4508949" y="4921648"/>
                </a:lnTo>
                <a:cubicBezTo>
                  <a:pt x="4495668" y="4920437"/>
                  <a:pt x="4482007" y="4918694"/>
                  <a:pt x="4467838" y="4915993"/>
                </a:cubicBezTo>
                <a:lnTo>
                  <a:pt x="4441948" y="4909300"/>
                </a:lnTo>
                <a:lnTo>
                  <a:pt x="4394719" y="4901820"/>
                </a:lnTo>
                <a:lnTo>
                  <a:pt x="4356810" y="4905146"/>
                </a:lnTo>
                <a:lnTo>
                  <a:pt x="4222144" y="4909117"/>
                </a:lnTo>
                <a:cubicBezTo>
                  <a:pt x="4202488" y="4913903"/>
                  <a:pt x="4184742" y="4933491"/>
                  <a:pt x="4160481" y="4923474"/>
                </a:cubicBezTo>
                <a:cubicBezTo>
                  <a:pt x="4165854" y="4934564"/>
                  <a:pt x="4131661" y="4919946"/>
                  <a:pt x="4124879" y="4929303"/>
                </a:cubicBezTo>
                <a:cubicBezTo>
                  <a:pt x="4120895" y="4937086"/>
                  <a:pt x="4109593" y="4934464"/>
                  <a:pt x="4100114" y="4936007"/>
                </a:cubicBezTo>
                <a:cubicBezTo>
                  <a:pt x="4091835" y="4943256"/>
                  <a:pt x="4045978" y="4943549"/>
                  <a:pt x="4030957" y="4939826"/>
                </a:cubicBezTo>
                <a:cubicBezTo>
                  <a:pt x="3989825" y="4924453"/>
                  <a:pt x="3946860" y="4952050"/>
                  <a:pt x="3913764" y="4940618"/>
                </a:cubicBezTo>
                <a:cubicBezTo>
                  <a:pt x="3904534" y="4939906"/>
                  <a:pt x="3896577" y="4940543"/>
                  <a:pt x="3889457" y="4942017"/>
                </a:cubicBezTo>
                <a:lnTo>
                  <a:pt x="3871115" y="4948115"/>
                </a:lnTo>
                <a:lnTo>
                  <a:pt x="3869086" y="4953796"/>
                </a:lnTo>
                <a:lnTo>
                  <a:pt x="3856124" y="4955351"/>
                </a:lnTo>
                <a:lnTo>
                  <a:pt x="3835967" y="4964002"/>
                </a:lnTo>
                <a:cubicBezTo>
                  <a:pt x="3826465" y="4939857"/>
                  <a:pt x="3782586" y="4975947"/>
                  <a:pt x="3785910" y="4953998"/>
                </a:cubicBezTo>
                <a:cubicBezTo>
                  <a:pt x="3750785" y="4960085"/>
                  <a:pt x="3699033" y="4941571"/>
                  <a:pt x="3671085" y="4966563"/>
                </a:cubicBezTo>
                <a:cubicBezTo>
                  <a:pt x="3621255" y="4971431"/>
                  <a:pt x="3562637" y="4982991"/>
                  <a:pt x="3486928" y="4983204"/>
                </a:cubicBezTo>
                <a:cubicBezTo>
                  <a:pt x="3446030" y="4983424"/>
                  <a:pt x="3343460" y="4965124"/>
                  <a:pt x="3280956" y="4963864"/>
                </a:cubicBezTo>
                <a:cubicBezTo>
                  <a:pt x="3227193" y="4969510"/>
                  <a:pt x="3256481" y="4962609"/>
                  <a:pt x="3211563" y="4982704"/>
                </a:cubicBezTo>
                <a:cubicBezTo>
                  <a:pt x="3207119" y="4979549"/>
                  <a:pt x="3170070" y="4977192"/>
                  <a:pt x="3164681" y="4975408"/>
                </a:cubicBezTo>
                <a:lnTo>
                  <a:pt x="3127171" y="4968229"/>
                </a:lnTo>
                <a:lnTo>
                  <a:pt x="3096889" y="4965619"/>
                </a:lnTo>
                <a:cubicBezTo>
                  <a:pt x="3088441" y="4967572"/>
                  <a:pt x="3082883" y="4967054"/>
                  <a:pt x="3078620" y="4965444"/>
                </a:cubicBezTo>
                <a:lnTo>
                  <a:pt x="3074275" y="4962670"/>
                </a:lnTo>
                <a:lnTo>
                  <a:pt x="3036436" y="4957455"/>
                </a:lnTo>
                <a:lnTo>
                  <a:pt x="3031995" y="4958829"/>
                </a:lnTo>
                <a:lnTo>
                  <a:pt x="2994028" y="4956800"/>
                </a:lnTo>
                <a:cubicBezTo>
                  <a:pt x="2992299" y="4958944"/>
                  <a:pt x="2989407" y="4960397"/>
                  <a:pt x="2984001" y="4960444"/>
                </a:cubicBezTo>
                <a:cubicBezTo>
                  <a:pt x="2994191" y="4975446"/>
                  <a:pt x="2981386" y="4966249"/>
                  <a:pt x="2964542" y="4965062"/>
                </a:cubicBezTo>
                <a:cubicBezTo>
                  <a:pt x="2976613" y="4988096"/>
                  <a:pt x="2927627" y="4975618"/>
                  <a:pt x="2921274" y="4988440"/>
                </a:cubicBezTo>
                <a:cubicBezTo>
                  <a:pt x="2908629" y="4987050"/>
                  <a:pt x="2895476" y="4985998"/>
                  <a:pt x="2882111" y="4985411"/>
                </a:cubicBezTo>
                <a:lnTo>
                  <a:pt x="2874282" y="4985361"/>
                </a:lnTo>
                <a:cubicBezTo>
                  <a:pt x="2874237" y="4985437"/>
                  <a:pt x="2874193" y="4985514"/>
                  <a:pt x="2874147" y="4985591"/>
                </a:cubicBezTo>
                <a:cubicBezTo>
                  <a:pt x="2872492" y="4986074"/>
                  <a:pt x="2869935" y="4986243"/>
                  <a:pt x="2865932" y="4985999"/>
                </a:cubicBezTo>
                <a:lnTo>
                  <a:pt x="2860008" y="4985269"/>
                </a:lnTo>
                <a:lnTo>
                  <a:pt x="2844819" y="4985172"/>
                </a:lnTo>
                <a:lnTo>
                  <a:pt x="2839735" y="4986676"/>
                </a:lnTo>
                <a:lnTo>
                  <a:pt x="2837922" y="4989488"/>
                </a:lnTo>
                <a:lnTo>
                  <a:pt x="2836507" y="4989165"/>
                </a:lnTo>
                <a:cubicBezTo>
                  <a:pt x="2825749" y="4984209"/>
                  <a:pt x="2822382" y="4977089"/>
                  <a:pt x="2808859" y="4996804"/>
                </a:cubicBezTo>
                <a:cubicBezTo>
                  <a:pt x="2784233" y="4988767"/>
                  <a:pt x="2779499" y="5000786"/>
                  <a:pt x="2745907" y="5005126"/>
                </a:cubicBezTo>
                <a:cubicBezTo>
                  <a:pt x="2731796" y="4997536"/>
                  <a:pt x="2720518" y="5000295"/>
                  <a:pt x="2709519" y="5006333"/>
                </a:cubicBezTo>
                <a:cubicBezTo>
                  <a:pt x="2676766" y="5002878"/>
                  <a:pt x="2646981" y="5011377"/>
                  <a:pt x="2610212" y="5013529"/>
                </a:cubicBezTo>
                <a:cubicBezTo>
                  <a:pt x="2570359" y="5003730"/>
                  <a:pt x="2550109" y="5021491"/>
                  <a:pt x="2510814" y="5023713"/>
                </a:cubicBezTo>
                <a:cubicBezTo>
                  <a:pt x="2476639" y="5006722"/>
                  <a:pt x="2482834" y="5038639"/>
                  <a:pt x="2462736" y="5045398"/>
                </a:cubicBezTo>
                <a:lnTo>
                  <a:pt x="2457050" y="5046022"/>
                </a:lnTo>
                <a:lnTo>
                  <a:pt x="2442184" y="5043549"/>
                </a:lnTo>
                <a:lnTo>
                  <a:pt x="2436703" y="5041929"/>
                </a:lnTo>
                <a:cubicBezTo>
                  <a:pt x="2432888" y="5041072"/>
                  <a:pt x="2430299" y="5040830"/>
                  <a:pt x="2428451" y="5041027"/>
                </a:cubicBezTo>
                <a:lnTo>
                  <a:pt x="2420551" y="5039949"/>
                </a:lnTo>
                <a:cubicBezTo>
                  <a:pt x="2407700" y="5037296"/>
                  <a:pt x="2395274" y="5034239"/>
                  <a:pt x="2383501" y="5030941"/>
                </a:cubicBezTo>
                <a:cubicBezTo>
                  <a:pt x="2362992" y="5032521"/>
                  <a:pt x="2317884" y="5047662"/>
                  <a:pt x="2297493" y="5049431"/>
                </a:cubicBezTo>
                <a:lnTo>
                  <a:pt x="2261156" y="5041558"/>
                </a:lnTo>
                <a:lnTo>
                  <a:pt x="2200581" y="5024964"/>
                </a:lnTo>
                <a:lnTo>
                  <a:pt x="2198380" y="5025550"/>
                </a:lnTo>
                <a:lnTo>
                  <a:pt x="2116066" y="5019568"/>
                </a:lnTo>
                <a:cubicBezTo>
                  <a:pt x="2111600" y="5017036"/>
                  <a:pt x="2059664" y="5006071"/>
                  <a:pt x="2056754" y="5002394"/>
                </a:cubicBezTo>
                <a:cubicBezTo>
                  <a:pt x="2003393" y="5014336"/>
                  <a:pt x="1998298" y="5008800"/>
                  <a:pt x="1942916" y="5005703"/>
                </a:cubicBezTo>
                <a:cubicBezTo>
                  <a:pt x="1882138" y="4994708"/>
                  <a:pt x="1836966" y="4976630"/>
                  <a:pt x="1796717" y="4970423"/>
                </a:cubicBezTo>
                <a:cubicBezTo>
                  <a:pt x="1724075" y="4959337"/>
                  <a:pt x="1636218" y="4936339"/>
                  <a:pt x="1583222" y="4931235"/>
                </a:cubicBezTo>
                <a:cubicBezTo>
                  <a:pt x="1544265" y="4950469"/>
                  <a:pt x="1556109" y="4927628"/>
                  <a:pt x="1518821" y="4927872"/>
                </a:cubicBezTo>
                <a:cubicBezTo>
                  <a:pt x="1497291" y="4925112"/>
                  <a:pt x="1483221" y="4916728"/>
                  <a:pt x="1471837" y="4914678"/>
                </a:cubicBezTo>
                <a:lnTo>
                  <a:pt x="1450515" y="4915578"/>
                </a:lnTo>
                <a:lnTo>
                  <a:pt x="1437078" y="4915016"/>
                </a:lnTo>
                <a:lnTo>
                  <a:pt x="1432462" y="4920065"/>
                </a:lnTo>
                <a:lnTo>
                  <a:pt x="1411645" y="4922952"/>
                </a:lnTo>
                <a:cubicBezTo>
                  <a:pt x="1384856" y="4920079"/>
                  <a:pt x="1306656" y="4907389"/>
                  <a:pt x="1271729" y="4902828"/>
                </a:cubicBezTo>
                <a:cubicBezTo>
                  <a:pt x="1258697" y="4896954"/>
                  <a:pt x="1213546" y="4890036"/>
                  <a:pt x="1202076" y="4895589"/>
                </a:cubicBezTo>
                <a:cubicBezTo>
                  <a:pt x="1192059" y="4895561"/>
                  <a:pt x="1182171" y="4891311"/>
                  <a:pt x="1174670" y="4898040"/>
                </a:cubicBezTo>
                <a:cubicBezTo>
                  <a:pt x="1163701" y="4905820"/>
                  <a:pt x="1136874" y="4886643"/>
                  <a:pt x="1137035" y="4897965"/>
                </a:cubicBezTo>
                <a:cubicBezTo>
                  <a:pt x="1117838" y="4884693"/>
                  <a:pt x="1091386" y="4900421"/>
                  <a:pt x="1069882" y="4901859"/>
                </a:cubicBezTo>
                <a:cubicBezTo>
                  <a:pt x="1055589" y="4889467"/>
                  <a:pt x="1024570" y="4904705"/>
                  <a:pt x="980935" y="4900090"/>
                </a:cubicBezTo>
                <a:cubicBezTo>
                  <a:pt x="947614" y="4895538"/>
                  <a:pt x="913224" y="4886405"/>
                  <a:pt x="869960" y="4874547"/>
                </a:cubicBezTo>
                <a:cubicBezTo>
                  <a:pt x="819114" y="4845820"/>
                  <a:pt x="768074" y="4839770"/>
                  <a:pt x="721345" y="4828937"/>
                </a:cubicBezTo>
                <a:cubicBezTo>
                  <a:pt x="667944" y="4819060"/>
                  <a:pt x="698286" y="4848426"/>
                  <a:pt x="635428" y="4819153"/>
                </a:cubicBezTo>
                <a:cubicBezTo>
                  <a:pt x="626286" y="4826707"/>
                  <a:pt x="617638" y="4825980"/>
                  <a:pt x="604106" y="4819994"/>
                </a:cubicBezTo>
                <a:cubicBezTo>
                  <a:pt x="583276" y="4822237"/>
                  <a:pt x="539859" y="4835097"/>
                  <a:pt x="510451" y="4832608"/>
                </a:cubicBezTo>
                <a:cubicBezTo>
                  <a:pt x="489781" y="4829929"/>
                  <a:pt x="443867" y="4807857"/>
                  <a:pt x="427656" y="4805062"/>
                </a:cubicBezTo>
                <a:cubicBezTo>
                  <a:pt x="424088" y="4806479"/>
                  <a:pt x="419580" y="4809736"/>
                  <a:pt x="413184" y="4815837"/>
                </a:cubicBezTo>
                <a:cubicBezTo>
                  <a:pt x="387673" y="4805882"/>
                  <a:pt x="379855" y="4817328"/>
                  <a:pt x="341772" y="4818825"/>
                </a:cubicBezTo>
                <a:cubicBezTo>
                  <a:pt x="327795" y="4810179"/>
                  <a:pt x="314729" y="4811964"/>
                  <a:pt x="301266" y="4817000"/>
                </a:cubicBezTo>
                <a:cubicBezTo>
                  <a:pt x="265781" y="4810886"/>
                  <a:pt x="231017" y="4816794"/>
                  <a:pt x="189886" y="4815871"/>
                </a:cubicBezTo>
                <a:cubicBezTo>
                  <a:pt x="147910" y="4802917"/>
                  <a:pt x="121702" y="4818738"/>
                  <a:pt x="77762" y="4817675"/>
                </a:cubicBezTo>
                <a:cubicBezTo>
                  <a:pt x="38733" y="4795315"/>
                  <a:pt x="44308" y="4840244"/>
                  <a:pt x="8164" y="4835320"/>
                </a:cubicBezTo>
                <a:lnTo>
                  <a:pt x="0" y="483277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65B4F-6738-1A9D-AAAC-5719F241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23" y="5251730"/>
            <a:ext cx="5198489" cy="125269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E2E Testing, </a:t>
            </a:r>
            <a:b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Cornerstone papers</a:t>
            </a:r>
            <a:b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-- Over the years! (Citation Gecko)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8D68F-8EF4-FD35-D6D3-FCBF7912D87F}"/>
              </a:ext>
            </a:extLst>
          </p:cNvPr>
          <p:cNvSpPr txBox="1"/>
          <p:nvPr/>
        </p:nvSpPr>
        <p:spPr>
          <a:xfrm>
            <a:off x="-76731" y="6642370"/>
            <a:ext cx="30820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</a:rPr>
              <a:t>https://</a:t>
            </a:r>
            <a:r>
              <a:rPr lang="en-US" sz="1100" dirty="0" err="1">
                <a:solidFill>
                  <a:schemeClr val="bg2"/>
                </a:solidFill>
              </a:rPr>
              <a:t>github.com</a:t>
            </a:r>
            <a:r>
              <a:rPr lang="en-US" sz="1100" dirty="0">
                <a:solidFill>
                  <a:schemeClr val="bg2"/>
                </a:solidFill>
              </a:rPr>
              <a:t>/</a:t>
            </a:r>
            <a:r>
              <a:rPr lang="en-US" sz="1100" dirty="0" err="1">
                <a:solidFill>
                  <a:schemeClr val="bg2"/>
                </a:solidFill>
              </a:rPr>
              <a:t>CitationGecko</a:t>
            </a:r>
            <a:r>
              <a:rPr lang="en-US" sz="1100" dirty="0">
                <a:solidFill>
                  <a:schemeClr val="bg2"/>
                </a:solidFill>
              </a:rPr>
              <a:t>/gecko-react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A3ECD-F376-89D1-A485-9BCEF6F816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24B5BF7-5E23-4799-AE4B-7889B3EF6D9A}" type="slidenum">
              <a:rPr lang="en-GB" altLang="zh-TW" smtClean="0"/>
              <a:pPr>
                <a:defRPr/>
              </a:pPr>
              <a:t>15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89444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784CAD-02BC-8A70-B47C-1883EC94A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1" t="1035" b="2026"/>
          <a:stretch>
            <a:fillRect/>
          </a:stretch>
        </p:blipFill>
        <p:spPr>
          <a:xfrm>
            <a:off x="1432290" y="0"/>
            <a:ext cx="7711710" cy="6857990"/>
          </a:xfrm>
          <a:prstGeom prst="rect">
            <a:avLst/>
          </a:prstGeom>
        </p:spPr>
      </p:pic>
      <p:sp>
        <p:nvSpPr>
          <p:cNvPr id="8" name="Freeform 24">
            <a:extLst>
              <a:ext uri="{FF2B5EF4-FFF2-40B4-BE49-F238E27FC236}">
                <a16:creationId xmlns:a16="http://schemas.microsoft.com/office/drawing/2014/main" id="{A414F261-E931-45CB-8605-20FFD6826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3629025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9436A-7C6C-E7AC-F033-6F9FBFAD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" y="4981574"/>
            <a:ext cx="3167979" cy="907673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 eaLnBrk="1" hangingPunct="1">
              <a:lnSpc>
                <a:spcPct val="90000"/>
              </a:lnSpc>
            </a:pPr>
            <a:r>
              <a:rPr lang="en-US" sz="2100" kern="1200" dirty="0">
                <a:solidFill>
                  <a:srgbClr val="FFFFFF"/>
                </a:solidFill>
              </a:rPr>
              <a:t>Seminal E2E Papers and their connections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3CF8AD-BB19-4F90-BDE5-B3B3F56F4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4876800"/>
            <a:ext cx="3593591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4E62CA-FAA3-4628-AEF3-5033C7714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5969000"/>
            <a:ext cx="3593591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BF9C45-801C-4A87-96DE-3A466938B118}"/>
              </a:ext>
            </a:extLst>
          </p:cNvPr>
          <p:cNvSpPr txBox="1"/>
          <p:nvPr/>
        </p:nvSpPr>
        <p:spPr>
          <a:xfrm>
            <a:off x="7711710" y="2730411"/>
            <a:ext cx="13436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Features - AutoE2E</a:t>
            </a:r>
            <a:b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ICSE ’25</a:t>
            </a:r>
            <a:endParaRPr lang="en-US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7DCEA-3CCA-E2D8-D646-C3D72E877066}"/>
              </a:ext>
            </a:extLst>
          </p:cNvPr>
          <p:cNvSpPr txBox="1"/>
          <p:nvPr/>
        </p:nvSpPr>
        <p:spPr>
          <a:xfrm>
            <a:off x="5235953" y="504092"/>
            <a:ext cx="18918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Form Entity Relation Graph</a:t>
            </a:r>
            <a:b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ISSTA ‘24</a:t>
            </a:r>
            <a:endParaRPr lang="en-US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F9D0E-9924-2360-7EC1-C24A7C8EEEB1}"/>
              </a:ext>
            </a:extLst>
          </p:cNvPr>
          <p:cNvSpPr txBox="1"/>
          <p:nvPr/>
        </p:nvSpPr>
        <p:spPr>
          <a:xfrm>
            <a:off x="4366370" y="1898073"/>
            <a:ext cx="7264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accent6"/>
                </a:solidFill>
                <a:latin typeface="Aptos" panose="020B0004020202020204" pitchFamily="34" charset="0"/>
              </a:rPr>
              <a:t>CrawlJax</a:t>
            </a:r>
            <a:b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1100" dirty="0" err="1">
                <a:solidFill>
                  <a:schemeClr val="accent6"/>
                </a:solidFill>
                <a:latin typeface="Aptos" panose="020B0004020202020204" pitchFamily="34" charset="0"/>
              </a:rPr>
              <a:t>Tweb</a:t>
            </a:r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 ‘12</a:t>
            </a:r>
            <a:endParaRPr lang="en-US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77B66C-3B90-C2C0-4575-FBB1740988D2}"/>
              </a:ext>
            </a:extLst>
          </p:cNvPr>
          <p:cNvSpPr txBox="1"/>
          <p:nvPr/>
        </p:nvSpPr>
        <p:spPr>
          <a:xfrm>
            <a:off x="3629025" y="2514967"/>
            <a:ext cx="7954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Invariants</a:t>
            </a:r>
            <a:b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ICSE ’09</a:t>
            </a:r>
            <a:endParaRPr lang="en-US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784DA-9886-29ED-13B1-2D2E8BA1DFEF}"/>
              </a:ext>
            </a:extLst>
          </p:cNvPr>
          <p:cNvSpPr txBox="1"/>
          <p:nvPr/>
        </p:nvSpPr>
        <p:spPr>
          <a:xfrm>
            <a:off x="6825163" y="3927065"/>
            <a:ext cx="6527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GUITAR</a:t>
            </a:r>
            <a:b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ASE ’13</a:t>
            </a:r>
            <a:endParaRPr lang="en-US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3A2480-D5F5-DA5A-36A2-8CF0FF7F6120}"/>
              </a:ext>
            </a:extLst>
          </p:cNvPr>
          <p:cNvSpPr txBox="1"/>
          <p:nvPr/>
        </p:nvSpPr>
        <p:spPr>
          <a:xfrm>
            <a:off x="4119553" y="5196344"/>
            <a:ext cx="7184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EFG</a:t>
            </a:r>
            <a:b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STVR ’07</a:t>
            </a:r>
            <a:endParaRPr lang="en-US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36F75-E108-33AF-E5AD-7925F5FE9728}"/>
              </a:ext>
            </a:extLst>
          </p:cNvPr>
          <p:cNvSpPr txBox="1"/>
          <p:nvPr/>
        </p:nvSpPr>
        <p:spPr>
          <a:xfrm>
            <a:off x="7127818" y="6091693"/>
            <a:ext cx="7360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accent6"/>
                </a:solidFill>
                <a:latin typeface="Aptos" panose="020B0004020202020204" pitchFamily="34" charset="0"/>
              </a:rPr>
              <a:t>AppFlow</a:t>
            </a:r>
            <a:b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FSE ’18</a:t>
            </a:r>
            <a:endParaRPr lang="en-US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0C3CF33-4D44-6269-2226-5178B49C0C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24B5BF7-5E23-4799-AE4B-7889B3EF6D9A}" type="slidenum">
              <a:rPr lang="en-GB" altLang="zh-TW" smtClean="0"/>
              <a:pPr>
                <a:defRPr/>
              </a:pPr>
              <a:t>16</a:t>
            </a:fld>
            <a:endParaRPr lang="en-GB" altLang="zh-TW" dirty="0"/>
          </a:p>
        </p:txBody>
      </p:sp>
    </p:spTree>
    <p:extLst>
      <p:ext uri="{BB962C8B-B14F-4D97-AF65-F5344CB8AC3E}">
        <p14:creationId xmlns:p14="http://schemas.microsoft.com/office/powerpoint/2010/main" val="1187531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74EE7-DDEC-1EEA-C33E-F138EF4C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1AD3AC-D8F2-8AB7-A5AC-76D53D9145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71" t="1035" b="42022"/>
          <a:stretch>
            <a:fillRect/>
          </a:stretch>
        </p:blipFill>
        <p:spPr>
          <a:xfrm rot="20331706">
            <a:off x="1037824" y="1932011"/>
            <a:ext cx="5217835" cy="4028476"/>
          </a:xfrm>
          <a:prstGeom prst="rect">
            <a:avLst/>
          </a:prstGeom>
        </p:spPr>
      </p:pic>
      <p:sp>
        <p:nvSpPr>
          <p:cNvPr id="8" name="Freeform 24">
            <a:extLst>
              <a:ext uri="{FF2B5EF4-FFF2-40B4-BE49-F238E27FC236}">
                <a16:creationId xmlns:a16="http://schemas.microsoft.com/office/drawing/2014/main" id="{9F0462DA-B1F4-4250-5DB0-F3A2F46FA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3629025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E89ED-20A9-EE74-EC5E-8C71733F0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62" y="4981575"/>
            <a:ext cx="2421732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 eaLnBrk="1" hangingPunct="1">
              <a:lnSpc>
                <a:spcPct val="90000"/>
              </a:lnSpc>
            </a:pPr>
            <a:r>
              <a:rPr lang="en-US" sz="2100" kern="1200" dirty="0">
                <a:solidFill>
                  <a:srgbClr val="FFFFFF"/>
                </a:solidFill>
              </a:rPr>
              <a:t>Some approaches also use LLMs!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AC827F-C4EF-C7DC-60CD-C0FD770A6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4876800"/>
            <a:ext cx="3593591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3F5331-362A-0E60-A2DF-E0F9ADD80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5969000"/>
            <a:ext cx="3593591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174E8F0-4B59-6C74-BE39-2C16CAD26331}"/>
              </a:ext>
            </a:extLst>
          </p:cNvPr>
          <p:cNvSpPr txBox="1"/>
          <p:nvPr/>
        </p:nvSpPr>
        <p:spPr>
          <a:xfrm>
            <a:off x="5384303" y="4078070"/>
            <a:ext cx="13436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Features - AutoE2E</a:t>
            </a:r>
            <a:b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ICSE ’25</a:t>
            </a:r>
            <a:endParaRPr lang="en-US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D8CC4-3D15-F92C-6C22-896303122DF1}"/>
              </a:ext>
            </a:extLst>
          </p:cNvPr>
          <p:cNvSpPr txBox="1"/>
          <p:nvPr/>
        </p:nvSpPr>
        <p:spPr>
          <a:xfrm>
            <a:off x="2491500" y="2304628"/>
            <a:ext cx="18918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Form Entity Relation Graph</a:t>
            </a:r>
            <a:b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1100" dirty="0">
                <a:solidFill>
                  <a:schemeClr val="accent6"/>
                </a:solidFill>
                <a:latin typeface="Aptos" panose="020B0004020202020204" pitchFamily="34" charset="0"/>
              </a:rPr>
              <a:t>ISSTA ‘24</a:t>
            </a:r>
            <a:endParaRPr lang="en-US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00D76E8-757D-3F88-0651-141EFFF937EF}"/>
              </a:ext>
            </a:extLst>
          </p:cNvPr>
          <p:cNvSpPr/>
          <p:nvPr/>
        </p:nvSpPr>
        <p:spPr bwMode="auto">
          <a:xfrm>
            <a:off x="2142126" y="1982266"/>
            <a:ext cx="5151357" cy="2691334"/>
          </a:xfrm>
          <a:prstGeom prst="roundRect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E5DA7-ACA6-3309-0702-F0077AFC3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24B5BF7-5E23-4799-AE4B-7889B3EF6D9A}" type="slidenum">
              <a:rPr lang="en-GB" altLang="zh-TW" smtClean="0"/>
              <a:pPr>
                <a:defRPr/>
              </a:pPr>
              <a:t>17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328055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EBDD4-C072-119E-4C5C-A0E54B76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E06E-88B2-8DDC-BA10-2673C47D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8354291" cy="762001"/>
          </a:xfrm>
        </p:spPr>
        <p:txBody>
          <a:bodyPr/>
          <a:lstStyle/>
          <a:p>
            <a:r>
              <a:rPr lang="en-US" altLang="en-US" dirty="0"/>
              <a:t>Bottlenecks - Direct Manipulation</a:t>
            </a:r>
            <a:endParaRPr lang="en-US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C20DD32-43A9-0BB1-57F2-EAF65CC65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819" y="4617319"/>
            <a:ext cx="3952601" cy="357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1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1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Hidden Menus-Steps to create a chart.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457BA-DCD8-DA8A-92BD-9C8AF7E9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19" y="1607090"/>
            <a:ext cx="4114800" cy="29203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58211A-C62C-1F23-BD40-DD2C4720F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153" y="845715"/>
            <a:ext cx="2222338" cy="54128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A26139-8633-1191-0E14-F5F361F36196}"/>
              </a:ext>
            </a:extLst>
          </p:cNvPr>
          <p:cNvSpPr txBox="1"/>
          <p:nvPr/>
        </p:nvSpPr>
        <p:spPr>
          <a:xfrm>
            <a:off x="5714856" y="6336268"/>
            <a:ext cx="342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High Friction filtering operations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219FAF-7D0E-68F7-5623-DC8C1510E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18</a:t>
            </a:fld>
            <a:endParaRPr lang="en-GB" altLang="zh-TW" dirty="0"/>
          </a:p>
        </p:txBody>
      </p:sp>
    </p:spTree>
    <p:extLst>
      <p:ext uri="{BB962C8B-B14F-4D97-AF65-F5344CB8AC3E}">
        <p14:creationId xmlns:p14="http://schemas.microsoft.com/office/powerpoint/2010/main" val="1286932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3022-DBB6-7D4E-CD2E-F3E64CC4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8354291" cy="762001"/>
          </a:xfrm>
        </p:spPr>
        <p:txBody>
          <a:bodyPr/>
          <a:lstStyle/>
          <a:p>
            <a:r>
              <a:rPr lang="en-US" altLang="en-US" dirty="0"/>
              <a:t>Bottlenecks - Direct Manipulation</a:t>
            </a:r>
            <a:endParaRPr lang="en-US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C67D9646-BFC8-64F9-A56C-28448EC04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317" y="6596520"/>
            <a:ext cx="3952601" cy="2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1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1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1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449263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Hidden Menus-Steps to create a chart.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F0D0C-E4AB-8B93-EA21-89CB118D5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70" y="4223560"/>
            <a:ext cx="3321629" cy="2357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BC3A09-7C8C-31F9-B641-F275622C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910" y="1419558"/>
            <a:ext cx="2055031" cy="50053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6B95B6-414F-8D52-0911-7C8F8A5E2D86}"/>
              </a:ext>
            </a:extLst>
          </p:cNvPr>
          <p:cNvSpPr txBox="1"/>
          <p:nvPr/>
        </p:nvSpPr>
        <p:spPr>
          <a:xfrm>
            <a:off x="6628911" y="6376183"/>
            <a:ext cx="26490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High Friction filtering operations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EAD230-E0D4-C0B5-ADCA-836DCEC070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058" y="1266177"/>
            <a:ext cx="605326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Discoverability Debt: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742950" lvl="1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Elements, like the sub-menus in the Google Sheets</a:t>
            </a:r>
          </a:p>
          <a:p>
            <a:pPr marL="742950" lvl="1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are hidden behind "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hover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" or "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click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" walls.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Cognitive Locality: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742950" lvl="1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Users must remember where a filter lives.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"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-Click" Burden: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742950" lvl="1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To achieve a complex state </a:t>
            </a:r>
            <a:r>
              <a:rPr lang="en-US" altLang="en-US" sz="1800" dirty="0">
                <a:solidFill>
                  <a:schemeClr val="tx1"/>
                </a:solidFill>
                <a:latin typeface="Aptos" panose="020B0004020202020204" pitchFamily="34" charset="0"/>
              </a:rPr>
              <a:t>a user must perform </a:t>
            </a:r>
          </a:p>
          <a:p>
            <a:pPr marL="742950" lvl="1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i="1" dirty="0">
                <a:solidFill>
                  <a:schemeClr val="tx1"/>
                </a:solidFill>
                <a:latin typeface="Aptos" panose="020B0004020202020204" pitchFamily="34" charset="0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latin typeface="Aptos" panose="020B0004020202020204" pitchFamily="34" charset="0"/>
              </a:rPr>
              <a:t> discrete visual searches and </a:t>
            </a:r>
            <a:r>
              <a:rPr lang="en-US" altLang="en-US" sz="1800" i="1" dirty="0">
                <a:solidFill>
                  <a:schemeClr val="tx1"/>
                </a:solidFill>
                <a:latin typeface="Aptos" panose="020B0004020202020204" pitchFamily="34" charset="0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latin typeface="Aptos" panose="020B0004020202020204" pitchFamily="34" charset="0"/>
              </a:rPr>
              <a:t> physical clicks.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742950" lvl="1" indent="-342900"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e.g., "Find blue, fine-tip pens under $10 with Prime 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1A4123-A868-7470-3DC1-59E11F08D348}"/>
              </a:ext>
            </a:extLst>
          </p:cNvPr>
          <p:cNvSpPr txBox="1"/>
          <p:nvPr/>
        </p:nvSpPr>
        <p:spPr>
          <a:xfrm>
            <a:off x="457199" y="881326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(Formally)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BDB4C9-46B7-7FA6-85BD-474B12D85A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23553" y="6581001"/>
            <a:ext cx="2128838" cy="471488"/>
          </a:xfrm>
        </p:spPr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19</a:t>
            </a:fld>
            <a:endParaRPr lang="en-GB" altLang="zh-TW" dirty="0"/>
          </a:p>
        </p:txBody>
      </p:sp>
    </p:spTree>
    <p:extLst>
      <p:ext uri="{BB962C8B-B14F-4D97-AF65-F5344CB8AC3E}">
        <p14:creationId xmlns:p14="http://schemas.microsoft.com/office/powerpoint/2010/main" val="1674971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36BB3C5-822B-45E1-A81E-5CC3176C6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2E07C0-268C-7FD4-5FDA-BA404FCBA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" t="3997" r="5983" b="7140"/>
          <a:stretch>
            <a:fillRect/>
          </a:stretch>
        </p:blipFill>
        <p:spPr>
          <a:xfrm>
            <a:off x="133272" y="365109"/>
            <a:ext cx="5132626" cy="23780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B39ECA9-4CDE-4883-98E8-287E905E9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447" y="3630934"/>
            <a:ext cx="4716196" cy="254602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821C98-549D-6872-3EF4-C935BECB5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849689"/>
            <a:ext cx="1583341" cy="2105025"/>
          </a:xfrm>
        </p:spPr>
        <p:txBody>
          <a:bodyPr>
            <a:normAutofit/>
          </a:bodyPr>
          <a:lstStyle/>
          <a:p>
            <a:r>
              <a:rPr lang="en-US" sz="2100" dirty="0"/>
              <a:t>LAGUI Paradigm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483D0-BAEB-4927-88AD-76F5DA846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1870" y="456572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BB7B12-4298-4CFB-B539-44A91C930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12880" y="4895342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7C74F-4602-FD1F-38E1-005D29A53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22" y="3849688"/>
            <a:ext cx="2602789" cy="2105025"/>
          </a:xfrm>
        </p:spPr>
        <p:txBody>
          <a:bodyPr anchor="ctr">
            <a:normAutofit/>
          </a:bodyPr>
          <a:lstStyle/>
          <a:p>
            <a:r>
              <a:rPr lang="en-US" sz="1500" b="1" dirty="0">
                <a:latin typeface="Aptos" panose="020B0004020202020204" pitchFamily="34" charset="0"/>
              </a:rPr>
              <a:t>Orchestration layer</a:t>
            </a:r>
            <a:r>
              <a:rPr lang="en-US" sz="1500" dirty="0">
                <a:latin typeface="Aptos" panose="020B0004020202020204" pitchFamily="34" charset="0"/>
              </a:rPr>
              <a:t> between </a:t>
            </a:r>
            <a:r>
              <a:rPr lang="en-US" sz="1500" i="1" dirty="0">
                <a:latin typeface="Aptos" panose="020B0004020202020204" pitchFamily="34" charset="0"/>
              </a:rPr>
              <a:t>user intent </a:t>
            </a:r>
            <a:r>
              <a:rPr lang="en-US" sz="1500" dirty="0">
                <a:latin typeface="Aptos" panose="020B0004020202020204" pitchFamily="34" charset="0"/>
              </a:rPr>
              <a:t>and </a:t>
            </a:r>
            <a:r>
              <a:rPr lang="en-US" sz="1500" i="1" dirty="0">
                <a:latin typeface="Aptos" panose="020B0004020202020204" pitchFamily="34" charset="0"/>
              </a:rPr>
              <a:t>software functions</a:t>
            </a:r>
            <a:r>
              <a:rPr lang="en-US" sz="1500" dirty="0">
                <a:latin typeface="Aptos" panose="020B0004020202020204" pitchFamily="34" charset="0"/>
              </a:rPr>
              <a:t>.</a:t>
            </a:r>
          </a:p>
          <a:p>
            <a:r>
              <a:rPr lang="en-US" sz="1600" i="1" dirty="0">
                <a:latin typeface="Aptos" panose="020B0004020202020204" pitchFamily="34" charset="0"/>
              </a:rPr>
              <a:t>spatial navigation</a:t>
            </a:r>
            <a:r>
              <a:rPr lang="en-US" sz="1600" dirty="0">
                <a:latin typeface="Aptos" panose="020B0004020202020204" pitchFamily="34" charset="0"/>
              </a:rPr>
              <a:t> (clicking) replaced by </a:t>
            </a:r>
            <a:br>
              <a:rPr lang="en-US" sz="1600" dirty="0">
                <a:latin typeface="Aptos" panose="020B0004020202020204" pitchFamily="34" charset="0"/>
              </a:rPr>
            </a:br>
            <a:r>
              <a:rPr lang="en-US" sz="1600" i="1" dirty="0">
                <a:latin typeface="Aptos" panose="020B0004020202020204" pitchFamily="34" charset="0"/>
              </a:rPr>
              <a:t>semantic navigation </a:t>
            </a:r>
            <a:r>
              <a:rPr lang="en-US" sz="1600" dirty="0">
                <a:latin typeface="Aptos" panose="020B0004020202020204" pitchFamily="34" charset="0"/>
              </a:rPr>
              <a:t>(utterances).</a:t>
            </a:r>
            <a:endParaRPr lang="en-US" sz="1500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3AA13-46A3-3F64-2B0D-CD208B4A21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41" r="3" b="3"/>
          <a:stretch>
            <a:fillRect/>
          </a:stretch>
        </p:blipFill>
        <p:spPr>
          <a:xfrm>
            <a:off x="5503741" y="523081"/>
            <a:ext cx="3465754" cy="5811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42678-8343-97A0-3CAE-C944E8E206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20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773695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DC54-49B8-F1C3-5980-59DC2057E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Semantics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F822E61-BC3B-FACD-2190-3631AA2B96F4}"/>
              </a:ext>
            </a:extLst>
          </p:cNvPr>
          <p:cNvGraphicFramePr/>
          <p:nvPr/>
        </p:nvGraphicFramePr>
        <p:xfrm>
          <a:off x="1100517" y="1397000"/>
          <a:ext cx="6519483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BD5389-28DC-70F2-2193-1E2191BCCC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21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212439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4134-7B47-D2DF-B687-9A053E88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6CEA3923-C057-E54D-0120-52D614937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4838" cy="762000"/>
          </a:xfrm>
        </p:spPr>
        <p:txBody>
          <a:bodyPr/>
          <a:lstStyle/>
          <a:p>
            <a:r>
              <a:rPr lang="en-US" altLang="en-US" dirty="0"/>
              <a:t>Project Motivation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A240C1BF-A07D-AF52-82A1-B499E61B1D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431024" cy="5105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How do we </a:t>
            </a:r>
            <a:r>
              <a:rPr lang="en-US" b="1" dirty="0">
                <a:solidFill>
                  <a:srgbClr val="7030A0"/>
                </a:solidFill>
                <a:latin typeface="Aptos" panose="020B0004020202020204" pitchFamily="34" charset="0"/>
              </a:rPr>
              <a:t>formalize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and </a:t>
            </a:r>
            <a:r>
              <a:rPr lang="en-US" b="1" dirty="0">
                <a:solidFill>
                  <a:srgbClr val="FFC000"/>
                </a:solidFill>
                <a:latin typeface="Aptos" panose="020B0004020202020204" pitchFamily="34" charset="0"/>
              </a:rPr>
              <a:t>test</a:t>
            </a:r>
            <a:r>
              <a:rPr lang="en-US" dirty="0">
                <a:latin typeface="Aptos" panose="020B0004020202020204" pitchFamily="34" charset="0"/>
              </a:rPr>
              <a:t> this </a:t>
            </a:r>
            <a:r>
              <a:rPr lang="en-US" i="1" dirty="0">
                <a:latin typeface="Aptos" panose="020B0004020202020204" pitchFamily="34" charset="0"/>
              </a:rPr>
              <a:t>new paradigm </a:t>
            </a:r>
            <a:r>
              <a:rPr lang="en-US" dirty="0">
                <a:latin typeface="Aptos" panose="020B0004020202020204" pitchFamily="34" charset="0"/>
              </a:rPr>
              <a:t>to ensure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it's as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reliable</a:t>
            </a:r>
            <a:r>
              <a:rPr lang="en-US" dirty="0">
                <a:latin typeface="Aptos" panose="020B0004020202020204" pitchFamily="34" charset="0"/>
              </a:rPr>
              <a:t> as the menus it replaces?</a:t>
            </a:r>
            <a:endParaRPr lang="en-US" altLang="en-US" dirty="0">
              <a:latin typeface="Aptos" panose="020B00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F485B6-4DED-EB61-1791-B0DC5360A4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22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799424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66A5-1C19-ED17-4D9A-21E0AB4E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5F12-48AA-9895-0041-DA04B982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Testing LNGUIs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9377B2-AE64-00DA-C89C-238485C202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5221314"/>
                  </p:ext>
                </p:extLst>
              </p:nvPr>
            </p:nvGraphicFramePr>
            <p:xfrm>
              <a:off x="664224" y="1737306"/>
              <a:ext cx="5483226" cy="3383387"/>
            </p:xfrm>
            <a:graphic>
              <a:graphicData uri="http://schemas.openxmlformats.org/drawingml/2006/table">
                <a:tbl>
                  <a:tblPr firstRow="1">
                    <a:tableStyleId>{9D7B26C5-4107-4FEC-AEDC-1716B250A1EF}</a:tableStyleId>
                  </a:tblPr>
                  <a:tblGrid>
                    <a:gridCol w="2741613">
                      <a:extLst>
                        <a:ext uri="{9D8B030D-6E8A-4147-A177-3AD203B41FA5}">
                          <a16:colId xmlns:a16="http://schemas.microsoft.com/office/drawing/2014/main" val="3568914502"/>
                        </a:ext>
                      </a:extLst>
                    </a:gridCol>
                    <a:gridCol w="2741613">
                      <a:extLst>
                        <a:ext uri="{9D8B030D-6E8A-4147-A177-3AD203B41FA5}">
                          <a16:colId xmlns:a16="http://schemas.microsoft.com/office/drawing/2014/main" val="3581441358"/>
                        </a:ext>
                      </a:extLst>
                    </a:gridCol>
                  </a:tblGrid>
                  <a:tr h="426827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Component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Formal Role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17105714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SUT (System Under Test)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Function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69225675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Test Input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Variable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71465285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Expected Output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Goal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87913508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</a:rPr>
                            <a:t>Test Oracle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Comparator/Judge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62034915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</a:rPr>
                            <a:t>Test Suite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Set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lit/>
                                </m:rPr>
                                <a:rPr lang="en-US" sz="1800" b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b>
                                <m:sSubPr>
                                  <m:ctrlPr>
                                    <a:rPr lang="en-US" sz="1800" b="1" i="1" dirty="0" smtClean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1800" b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1" i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1800" b="1" dirty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1" i="1" dirty="0" err="1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dirty="0" err="1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1800" b="1" dirty="0" err="1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1800" b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3659984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9377B2-AE64-00DA-C89C-238485C202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5221314"/>
                  </p:ext>
                </p:extLst>
              </p:nvPr>
            </p:nvGraphicFramePr>
            <p:xfrm>
              <a:off x="664224" y="1737306"/>
              <a:ext cx="5483226" cy="3383387"/>
            </p:xfrm>
            <a:graphic>
              <a:graphicData uri="http://schemas.openxmlformats.org/drawingml/2006/table">
                <a:tbl>
                  <a:tblPr firstRow="1">
                    <a:tableStyleId>{9D7B26C5-4107-4FEC-AEDC-1716B250A1EF}</a:tableStyleId>
                  </a:tblPr>
                  <a:tblGrid>
                    <a:gridCol w="2741613">
                      <a:extLst>
                        <a:ext uri="{9D8B030D-6E8A-4147-A177-3AD203B41FA5}">
                          <a16:colId xmlns:a16="http://schemas.microsoft.com/office/drawing/2014/main" val="3568914502"/>
                        </a:ext>
                      </a:extLst>
                    </a:gridCol>
                    <a:gridCol w="2741613">
                      <a:extLst>
                        <a:ext uri="{9D8B030D-6E8A-4147-A177-3AD203B41FA5}">
                          <a16:colId xmlns:a16="http://schemas.microsoft.com/office/drawing/2014/main" val="3581441358"/>
                        </a:ext>
                      </a:extLst>
                    </a:gridCol>
                  </a:tblGrid>
                  <a:tr h="426827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Component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Formal Role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17105714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SUT (System Under Test)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100926" t="-63636" b="-3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225675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Test Input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100926" t="-264706" b="-4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465285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Expected Output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100926" t="-364706" b="-3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913508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</a:rPr>
                            <a:t>Test Oracle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</a:rPr>
                            <a:t>The Comparator/Judge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62034915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</a:rPr>
                            <a:t>Test Suite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100926" t="-380357" b="-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59984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Left Arrow 5">
            <a:extLst>
              <a:ext uri="{FF2B5EF4-FFF2-40B4-BE49-F238E27FC236}">
                <a16:creationId xmlns:a16="http://schemas.microsoft.com/office/drawing/2014/main" id="{839E181F-1CE6-A4B5-2793-BCAE8E4D11B6}"/>
              </a:ext>
            </a:extLst>
          </p:cNvPr>
          <p:cNvSpPr/>
          <p:nvPr/>
        </p:nvSpPr>
        <p:spPr bwMode="auto">
          <a:xfrm>
            <a:off x="4975642" y="2666998"/>
            <a:ext cx="3504134" cy="762001"/>
          </a:xfrm>
          <a:prstGeom prst="left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r>
              <a:rPr lang="en-US" dirty="0">
                <a:latin typeface="Arial" charset="0"/>
              </a:rPr>
              <a:t>English Language - Huge!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013A20C9-F2D9-25A9-DE6A-EFE672722C3B}"/>
              </a:ext>
            </a:extLst>
          </p:cNvPr>
          <p:cNvCxnSpPr/>
          <p:nvPr/>
        </p:nvCxnSpPr>
        <p:spPr bwMode="auto">
          <a:xfrm>
            <a:off x="4572000" y="3542501"/>
            <a:ext cx="1106232" cy="249382"/>
          </a:xfrm>
          <a:prstGeom prst="curvedConnector3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CE96643-3023-25F0-7E74-8CD68A59E44F}"/>
              </a:ext>
            </a:extLst>
          </p:cNvPr>
          <p:cNvSpPr/>
          <p:nvPr/>
        </p:nvSpPr>
        <p:spPr bwMode="auto">
          <a:xfrm>
            <a:off x="5678232" y="3587262"/>
            <a:ext cx="3107681" cy="409241"/>
          </a:xfrm>
          <a:prstGeom prst="round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Not always a single answer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89004C-526E-B286-A581-DA3912BA7D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23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3052987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AD5F-3D0B-6F70-FAA7-3F5C5909D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Testing LNGUIs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A02F1-D63A-7537-8758-5D0A37C87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latin typeface="Aptos" panose="020B0004020202020204" pitchFamily="34" charset="0"/>
              </a:rPr>
              <a:t>The Oracle Problem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"Show me some shoes" could return different but equally valid sets of results</a:t>
            </a:r>
          </a:p>
          <a:p>
            <a:r>
              <a:rPr lang="en-US" sz="2800" b="1" dirty="0">
                <a:latin typeface="Aptos" panose="020B0004020202020204" pitchFamily="34" charset="0"/>
              </a:rPr>
              <a:t>Input Domain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We cannot possibly test every permutation of a command.</a:t>
            </a:r>
          </a:p>
          <a:p>
            <a:r>
              <a:rPr lang="en-US" sz="2800" b="1" dirty="0">
                <a:latin typeface="Aptos" panose="020B0004020202020204" pitchFamily="34" charset="0"/>
              </a:rPr>
              <a:t>Non-Determinism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LLMs can produce different outputs for exactly same inputs</a:t>
            </a:r>
          </a:p>
          <a:p>
            <a:r>
              <a:rPr lang="en-US" sz="2800" b="1" dirty="0">
                <a:latin typeface="Aptos" panose="020B0004020202020204" pitchFamily="34" charset="0"/>
              </a:rPr>
              <a:t>Context Sensitivity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“Delete that” needs prior context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23175-9B5A-5B44-EC0F-10B4274201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24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08893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93CB-250E-94CB-B068-59C7A87D33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Modalities of Failure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DD393-9992-A119-7968-FEF44544F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unique Fault patterns can LNGUIs have?</a:t>
            </a:r>
          </a:p>
        </p:txBody>
      </p:sp>
    </p:spTree>
    <p:extLst>
      <p:ext uri="{BB962C8B-B14F-4D97-AF65-F5344CB8AC3E}">
        <p14:creationId xmlns:p14="http://schemas.microsoft.com/office/powerpoint/2010/main" val="2773747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B9958-EF68-F104-B05B-A0FBDDED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Fault Model</a:t>
            </a:r>
            <a:endParaRPr lang="en-US"/>
          </a:p>
        </p:txBody>
      </p:sp>
      <p:pic>
        <p:nvPicPr>
          <p:cNvPr id="77" name="Content Placeholder 76" descr="A diagram of a diagram&#10;&#10;AI-generated content may be incorrect.">
            <a:extLst>
              <a:ext uri="{FF2B5EF4-FFF2-40B4-BE49-F238E27FC236}">
                <a16:creationId xmlns:a16="http://schemas.microsoft.com/office/drawing/2014/main" id="{97C4AC81-BC11-2B33-730F-0CC0A072B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60606" y="1188053"/>
            <a:ext cx="8227670" cy="414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77D767-8947-6424-7302-3AD50A49DC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26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54279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D4A8-30BA-3F0B-0B93-B7DAB64A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2999"/>
              </a:lnSpc>
            </a:pPr>
            <a:r>
              <a:rPr lang="en-US">
                <a:ea typeface="+mj-lt"/>
                <a:cs typeface="+mj-lt"/>
              </a:rPr>
              <a:t>Synonym Blindness 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C9F462-9FC5-34FB-7129-E00C6AB26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46098" y="1070565"/>
            <a:ext cx="8656982" cy="4720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6A93-254E-9DB5-3AFB-483A0606F8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27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629869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E3F9-8403-C4FE-880F-B448DE1C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2999"/>
              </a:lnSpc>
            </a:pPr>
            <a:r>
              <a:rPr lang="en-US">
                <a:ea typeface="+mj-lt"/>
                <a:cs typeface="+mj-lt"/>
              </a:rPr>
              <a:t>Constraint Leakage</a:t>
            </a:r>
            <a:endParaRPr lang="en-US"/>
          </a:p>
        </p:txBody>
      </p:sp>
      <p:pic>
        <p:nvPicPr>
          <p:cNvPr id="4" name="Content Placeholder 3" descr="A screenshot of a chat application&#10;&#10;AI-generated content may be incorrect.">
            <a:extLst>
              <a:ext uri="{FF2B5EF4-FFF2-40B4-BE49-F238E27FC236}">
                <a16:creationId xmlns:a16="http://schemas.microsoft.com/office/drawing/2014/main" id="{D588D32B-C6B5-8235-CF69-C673FAFE3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266" y="1068815"/>
            <a:ext cx="9115061" cy="4927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7A9B21-B1A4-F9D1-3954-2C2F27E5EA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28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688490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7A45-2053-76E7-29BD-8D81097FA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2999"/>
              </a:lnSpc>
            </a:pPr>
            <a:r>
              <a:rPr lang="en-US">
                <a:ea typeface="+mj-lt"/>
                <a:cs typeface="+mj-lt"/>
              </a:rPr>
              <a:t>Order Sensitivity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94D8E7-E449-5901-5E4D-DB404D675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-2381" y="1414299"/>
            <a:ext cx="9134355" cy="4024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A8B67-3409-F6D7-45CA-F385E196DD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29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351484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AEFC-5217-0933-6D63-D6F71BC9D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2999"/>
              </a:lnSpc>
            </a:pPr>
            <a:r>
              <a:rPr lang="en-US">
                <a:ea typeface="+mj-lt"/>
                <a:cs typeface="+mj-lt"/>
              </a:rPr>
              <a:t>Context Amnesia</a:t>
            </a:r>
            <a:endParaRPr lang="en-US"/>
          </a:p>
        </p:txBody>
      </p:sp>
      <p:pic>
        <p:nvPicPr>
          <p:cNvPr id="4" name="Content Placeholder 3" descr="A diagram of a chatbot&#10;&#10;AI-generated content may be incorrect.">
            <a:extLst>
              <a:ext uri="{FF2B5EF4-FFF2-40B4-BE49-F238E27FC236}">
                <a16:creationId xmlns:a16="http://schemas.microsoft.com/office/drawing/2014/main" id="{8BD0A92F-B986-83D8-B240-E153D5F35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266" y="1080085"/>
            <a:ext cx="9115061" cy="4924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697089-E80F-9930-A7EA-25C7CDDB9A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30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294063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FDF0-CCBF-7054-B332-9074D6D7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2999"/>
              </a:lnSpc>
            </a:pPr>
            <a:r>
              <a:rPr lang="en-US">
                <a:cs typeface="Arial"/>
              </a:rPr>
              <a:t>Metamorphic Testing</a:t>
            </a:r>
            <a:r>
              <a:rPr lang="en-US" sz="1100">
                <a:cs typeface="Arial"/>
              </a:rPr>
              <a:t>[5]</a:t>
            </a:r>
            <a:endParaRPr lang="en-US" sz="1100">
              <a:solidFill>
                <a:srgbClr val="000000"/>
              </a:solidFill>
              <a:cs typeface="Arial"/>
            </a:endParaRPr>
          </a:p>
        </p:txBody>
      </p:sp>
      <p:pic>
        <p:nvPicPr>
          <p:cNvPr id="7" name="Content Placeholder 6" descr="A diagram of a test&#10;&#10;AI-generated content may be incorrect.">
            <a:extLst>
              <a:ext uri="{FF2B5EF4-FFF2-40B4-BE49-F238E27FC236}">
                <a16:creationId xmlns:a16="http://schemas.microsoft.com/office/drawing/2014/main" id="{CA17FFAE-8880-9D63-AABE-5FC85F39F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74784" y="1273719"/>
            <a:ext cx="8999316" cy="431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4CA738-7B53-72A7-DD7B-F92B20207195}"/>
              </a:ext>
            </a:extLst>
          </p:cNvPr>
          <p:cNvSpPr txBox="1"/>
          <p:nvPr/>
        </p:nvSpPr>
        <p:spPr>
          <a:xfrm>
            <a:off x="-63944" y="6427113"/>
            <a:ext cx="9143999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50">
                <a:solidFill>
                  <a:schemeClr val="tx1"/>
                </a:solidFill>
                <a:latin typeface="Arial"/>
                <a:ea typeface="新細明體"/>
                <a:cs typeface="Arial"/>
              </a:rPr>
              <a:t>[5] T.Y. Chen; S.C. Cheung; S.M. Yiu (1998), "Metamorphic testing: A new approach for generating next test cases", Technical Report HKUST-CS98-01 (PDF), Department of Computer Science, The Hong Kong University of Science and Technology, Hong Kong, arXiv:2002.12543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271DF8-E9FF-98CD-F7AD-4A106D8730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31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875229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70BC-CFC0-F790-8F54-A1E221BF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2999"/>
              </a:lnSpc>
            </a:pPr>
            <a:r>
              <a:rPr lang="en-US">
                <a:cs typeface="Arial"/>
              </a:rPr>
              <a:t>Metamorphic </a:t>
            </a:r>
            <a:r>
              <a:rPr lang="en-US">
                <a:ea typeface="+mj-lt"/>
                <a:cs typeface="+mj-lt"/>
              </a:rPr>
              <a:t>Relation</a:t>
            </a:r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AE8D-4171-2BC2-FE13-7B86DC5A9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112999"/>
              </a:lnSpc>
              <a:buNone/>
            </a:pPr>
            <a:r>
              <a:rPr lang="en-US" b="1" dirty="0">
                <a:latin typeface="Aptos" panose="020B0004020202020204" pitchFamily="34" charset="0"/>
                <a:ea typeface="+mn-lt"/>
                <a:cs typeface="+mn-lt"/>
              </a:rPr>
              <a:t>Metamorphic Relations(MR) 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are the rules that define how outputs should behave when inputs are transformed. </a:t>
            </a:r>
          </a:p>
          <a:p>
            <a:pPr marL="0" indent="0">
              <a:lnSpc>
                <a:spcPct val="112999"/>
              </a:lnSpc>
              <a:buNone/>
            </a:pP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Instead of checking one </a:t>
            </a:r>
            <a:r>
              <a:rPr lang="en-US" i="1" dirty="0">
                <a:latin typeface="Aptos" panose="020B0004020202020204" pitchFamily="34" charset="0"/>
                <a:ea typeface="+mn-lt"/>
                <a:cs typeface="+mn-lt"/>
              </a:rPr>
              <a:t>correct output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, </a:t>
            </a:r>
            <a:br>
              <a:rPr lang="en-US" dirty="0">
                <a:latin typeface="Aptos" panose="020B0004020202020204" pitchFamily="34" charset="0"/>
                <a:ea typeface="+mn-lt"/>
                <a:cs typeface="+mn-lt"/>
              </a:rPr>
            </a:b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we check whether the </a:t>
            </a:r>
            <a:r>
              <a:rPr lang="en-US" i="1" u="sng" dirty="0">
                <a:latin typeface="Aptos" panose="020B0004020202020204" pitchFamily="34" charset="0"/>
                <a:ea typeface="+mn-lt"/>
                <a:cs typeface="+mn-lt"/>
              </a:rPr>
              <a:t>outputs follow the expected relation</a:t>
            </a:r>
            <a:r>
              <a:rPr lang="en-US" u="sng" dirty="0">
                <a:latin typeface="Aptos" panose="020B0004020202020204" pitchFamily="34" charset="0"/>
                <a:ea typeface="+mn-lt"/>
                <a:cs typeface="+mn-lt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E965E-680A-2658-21F5-4E92A7A4C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32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08794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3440-ADD0-D279-753C-76BF127B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F99822A1-1378-241E-E104-FD8A29AA0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4838" cy="762000"/>
          </a:xfrm>
        </p:spPr>
        <p:txBody>
          <a:bodyPr/>
          <a:lstStyle/>
          <a:p>
            <a:r>
              <a:rPr lang="en-US">
                <a:latin typeface="Cambria Math" panose="02040503050406030204" pitchFamily="18" charset="0"/>
              </a:rPr>
              <a:t>Intuitively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04BC712-9203-0690-C332-8FE4181D1A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066800"/>
                <a:ext cx="8578095" cy="5105400"/>
              </a:xfrm>
            </p:spPr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A sequence of utterances induces a trace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/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is the System State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/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is an Utterance </a:t>
                </a:r>
              </a:p>
              <a:p>
                <a:pPr marL="914400" lvl="2" indent="0" algn="just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914400" lvl="2" indent="0" algn="just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914400" lvl="2" indent="0" algn="just"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groupCh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groupCh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04BC712-9203-0690-C332-8FE4181D1A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066800"/>
                <a:ext cx="8578095" cy="5105400"/>
              </a:xfrm>
              <a:blipFill>
                <a:blip r:embed="rId2"/>
                <a:stretch>
                  <a:fillRect l="-1775" t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6C055C-4127-FAE1-E7EF-6E21C77BCB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33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345082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FB05-BEDD-7A22-8E35-DD28E8EB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Relations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559FD8-39EC-AA43-17FF-F13D10CC6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0732" y="1066800"/>
            <a:ext cx="6857773" cy="5105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E4B471-3635-BD95-3D17-F3D60526A8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34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578182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182E-C262-588F-53AD-D0F84B37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F5CF-740F-261B-5403-FE800F3C9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4803B-D8F5-00FE-62FD-0609CDE57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71" y="1178169"/>
            <a:ext cx="7772400" cy="488266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F0847-0C7D-7E4E-3B29-AC14848A8F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35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619054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CA91-A2BF-81B2-0418-CBE70562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65F31-281A-9220-F227-6F598876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 Gantt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6E956-8A4C-D78E-A572-6AF715BD1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7820" indent="-337820"/>
            <a:endParaRPr lang="en-US" dirty="0">
              <a:cs typeface="Arial"/>
            </a:endParaRPr>
          </a:p>
          <a:p>
            <a:pPr marL="337820" indent="-337820">
              <a:lnSpc>
                <a:spcPct val="112999"/>
              </a:lnSpc>
            </a:pPr>
            <a:endParaRPr lang="en-US" dirty="0">
              <a:cs typeface="Arial"/>
            </a:endParaRPr>
          </a:p>
          <a:p>
            <a:pPr marL="337820" indent="-337820">
              <a:lnSpc>
                <a:spcPct val="112999"/>
              </a:lnSpc>
            </a:pPr>
            <a:endParaRPr lang="en-US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9AFBB-052C-10E8-3AE6-2390EC98F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3187"/>
            <a:ext cx="9144000" cy="15716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9E40C-5AD0-38FD-2BF3-7707A0E153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36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435440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D8F4-9B31-868D-82C2-048765E5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F58570A1-ACCA-78A8-2766-F09B166ED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4838" cy="762000"/>
          </a:xfrm>
        </p:spPr>
        <p:txBody>
          <a:bodyPr/>
          <a:lstStyle/>
          <a:p>
            <a:r>
              <a:rPr lang="en-US" altLang="en-US"/>
              <a:t>Expected Outcome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CEA9CF50-8AD5-4522-26AF-9F87F8C5B9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ptos" panose="020B0004020202020204" pitchFamily="34" charset="0"/>
              </a:rPr>
              <a:t>Formalize LNGUIs</a:t>
            </a:r>
          </a:p>
          <a:p>
            <a:pPr lvl="1"/>
            <a:r>
              <a:rPr lang="en-US" altLang="en-US" dirty="0">
                <a:latin typeface="Aptos" panose="020B0004020202020204" pitchFamily="34" charset="0"/>
              </a:rPr>
              <a:t>Map to some Model (graphs or FSM)</a:t>
            </a:r>
          </a:p>
          <a:p>
            <a:r>
              <a:rPr lang="en-US" altLang="en-US" dirty="0">
                <a:latin typeface="Aptos" panose="020B0004020202020204" pitchFamily="34" charset="0"/>
              </a:rPr>
              <a:t>Define the Fault Model</a:t>
            </a:r>
          </a:p>
          <a:p>
            <a:r>
              <a:rPr lang="en-US" altLang="en-US" dirty="0">
                <a:latin typeface="Aptos" panose="020B0004020202020204" pitchFamily="34" charset="0"/>
              </a:rPr>
              <a:t>Design a Coverage criteria</a:t>
            </a:r>
          </a:p>
          <a:p>
            <a:pPr lvl="1"/>
            <a:r>
              <a:rPr lang="en-US" altLang="en-US" dirty="0">
                <a:latin typeface="Aptos" panose="020B0004020202020204" pitchFamily="34" charset="0"/>
              </a:rPr>
              <a:t>Based on Metamorphic testing</a:t>
            </a:r>
          </a:p>
          <a:p>
            <a:r>
              <a:rPr lang="en-US" altLang="en-US" dirty="0">
                <a:latin typeface="Aptos" panose="020B0004020202020204" pitchFamily="34" charset="0"/>
              </a:rPr>
              <a:t>A tool to automatically create a test suite for LNGUIs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E0FDC-2E33-B1F3-6953-0342C239DC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37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83957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D0F30-1FC1-49B5-5196-0FC1530D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26" name="Rectangle 12325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28" name="Rectangle 12327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Title 1">
            <a:extLst>
              <a:ext uri="{FF2B5EF4-FFF2-40B4-BE49-F238E27FC236}">
                <a16:creationId xmlns:a16="http://schemas.microsoft.com/office/drawing/2014/main" id="{96179451-1B4B-6A39-3FD7-36BA64880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altLang="en-US" sz="3100" kern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Expected Outcome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F1FD7C7D-C956-9D3B-B0A3-720F2E1C76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19835" y="6019391"/>
            <a:ext cx="5486399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defTabSz="914400" eaLnBrk="1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Bridge this gap!</a:t>
            </a:r>
            <a:endParaRPr lang="en-US" altLang="en-US" sz="1400" kern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2322" name="Picture 12321" descr="Aerial view of a highway near the ocean">
            <a:extLst>
              <a:ext uri="{FF2B5EF4-FFF2-40B4-BE49-F238E27FC236}">
                <a16:creationId xmlns:a16="http://schemas.microsoft.com/office/drawing/2014/main" id="{516AB958-C939-98BA-940A-5CA5C4E60F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16" b="7750"/>
          <a:stretch>
            <a:fillRect/>
          </a:stretch>
        </p:blipFill>
        <p:spPr>
          <a:xfrm>
            <a:off x="20" y="10"/>
            <a:ext cx="9143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694AC6-AB8C-C51C-EE67-E360147EF3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 smtClean="0"/>
              <a:pPr>
                <a:defRPr/>
              </a:pPr>
              <a:t>38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09150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5DF3-2C8E-8661-32CA-B5FA24EB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Apartment.com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E165C-FBEC-718E-D1C5-1140F085CA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/>
              <a:pPr>
                <a:defRPr/>
              </a:pPr>
              <a:t>39</a:t>
            </a:fld>
            <a:endParaRPr lang="en-GB" altLang="zh-TW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D16023-3686-0D44-DA11-D882C1367E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9" b="32880"/>
          <a:stretch>
            <a:fillRect/>
          </a:stretch>
        </p:blipFill>
        <p:spPr>
          <a:xfrm>
            <a:off x="112426" y="918147"/>
            <a:ext cx="5537010" cy="230782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C3CDF4-DA4D-0A17-15F4-8AF36891641A}"/>
              </a:ext>
            </a:extLst>
          </p:cNvPr>
          <p:cNvCxnSpPr/>
          <p:nvPr/>
        </p:nvCxnSpPr>
        <p:spPr bwMode="auto">
          <a:xfrm flipH="1">
            <a:off x="1038069" y="1219825"/>
            <a:ext cx="5128509" cy="32416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7C357F-4A47-6212-0B2E-A9D4122436D5}"/>
              </a:ext>
            </a:extLst>
          </p:cNvPr>
          <p:cNvSpPr/>
          <p:nvPr/>
        </p:nvSpPr>
        <p:spPr bwMode="auto">
          <a:xfrm>
            <a:off x="6175289" y="897258"/>
            <a:ext cx="2657006" cy="96124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AB47B5-6578-6241-5288-64906266935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164602" y="1969343"/>
            <a:ext cx="2001975" cy="433593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5B7A464-8BF4-232B-6D40-8541091650E2}"/>
              </a:ext>
            </a:extLst>
          </p:cNvPr>
          <p:cNvSpPr/>
          <p:nvPr/>
        </p:nvSpPr>
        <p:spPr bwMode="auto">
          <a:xfrm>
            <a:off x="6168920" y="2112207"/>
            <a:ext cx="2657006" cy="96124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74429-740D-9D27-3E38-84DC6AC75AF9}"/>
              </a:ext>
            </a:extLst>
          </p:cNvPr>
          <p:cNvSpPr txBox="1"/>
          <p:nvPr/>
        </p:nvSpPr>
        <p:spPr>
          <a:xfrm>
            <a:off x="6406865" y="1072546"/>
            <a:ext cx="227199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   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এক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বেডরুম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 ও </a:t>
            </a:r>
            <a:br>
              <a:rPr lang="en-US">
                <a:latin typeface="Arial"/>
                <a:ea typeface="新細明體"/>
                <a:cs typeface="Arial"/>
              </a:rPr>
            </a:b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১০০০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এর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কম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দামের</a:t>
            </a:r>
            <a:br>
              <a:rPr lang="en-US">
                <a:cs typeface="Arial"/>
              </a:rPr>
            </a:br>
            <a:endParaRPr lang="en-US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EAD870-85BF-3AE8-ECC1-AA63796B501D}"/>
              </a:ext>
            </a:extLst>
          </p:cNvPr>
          <p:cNvSpPr txBox="1"/>
          <p:nvPr/>
        </p:nvSpPr>
        <p:spPr>
          <a:xfrm>
            <a:off x="6247680" y="2406174"/>
            <a:ext cx="25914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rial"/>
                <a:ea typeface="新細明體"/>
                <a:cs typeface="Arial"/>
              </a:rPr>
              <a:t>1,491 Rentals Available</a:t>
            </a:r>
            <a:endParaRPr lang="en-US">
              <a:solidFill>
                <a:schemeClr val="tx1"/>
              </a:solidFill>
              <a:latin typeface="Arial"/>
              <a:ea typeface="新細明體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3AF1CD-D7D8-3AEB-2758-8F8AF50361A4}"/>
              </a:ext>
            </a:extLst>
          </p:cNvPr>
          <p:cNvSpPr/>
          <p:nvPr/>
        </p:nvSpPr>
        <p:spPr bwMode="auto">
          <a:xfrm>
            <a:off x="255337" y="3798112"/>
            <a:ext cx="2657006" cy="96124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9D8CF9-96EF-B6A6-8FB2-56F74CBBB77C}"/>
              </a:ext>
            </a:extLst>
          </p:cNvPr>
          <p:cNvSpPr/>
          <p:nvPr/>
        </p:nvSpPr>
        <p:spPr bwMode="auto">
          <a:xfrm>
            <a:off x="264734" y="5076123"/>
            <a:ext cx="2657006" cy="96124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9AB29C-85B0-4BA5-5649-2795780A6816}"/>
              </a:ext>
            </a:extLst>
          </p:cNvPr>
          <p:cNvSpPr txBox="1"/>
          <p:nvPr/>
        </p:nvSpPr>
        <p:spPr>
          <a:xfrm>
            <a:off x="360789" y="3957635"/>
            <a:ext cx="24611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新細明體"/>
                <a:cs typeface="Arial"/>
              </a:rPr>
              <a:t>1 bedroom apartment     below $1000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3FA0C9-DFF5-75B1-0892-C320B03A5246}"/>
              </a:ext>
            </a:extLst>
          </p:cNvPr>
          <p:cNvSpPr txBox="1"/>
          <p:nvPr/>
        </p:nvSpPr>
        <p:spPr>
          <a:xfrm>
            <a:off x="453853" y="5370090"/>
            <a:ext cx="22708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rial"/>
                <a:ea typeface="新細明體"/>
                <a:cs typeface="Arial"/>
              </a:rPr>
              <a:t>36 Rentals Available</a:t>
            </a:r>
            <a:endParaRPr lang="en-US">
              <a:solidFill>
                <a:schemeClr val="tx1"/>
              </a:solidFill>
              <a:latin typeface="Arial"/>
              <a:ea typeface="新細明體"/>
            </a:endParaRPr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B5AFF1-AEDF-41E8-73C4-8B77008EEC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2" b="38307"/>
          <a:stretch>
            <a:fillRect/>
          </a:stretch>
        </p:blipFill>
        <p:spPr>
          <a:xfrm>
            <a:off x="3287111" y="3797258"/>
            <a:ext cx="5541580" cy="216843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E5BF47-5DDB-42A2-6FC1-0B9402F25327}"/>
              </a:ext>
            </a:extLst>
          </p:cNvPr>
          <p:cNvCxnSpPr>
            <a:cxnSpLocks/>
          </p:cNvCxnSpPr>
          <p:nvPr/>
        </p:nvCxnSpPr>
        <p:spPr bwMode="auto">
          <a:xfrm>
            <a:off x="2934647" y="4349278"/>
            <a:ext cx="665319" cy="11132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9F7863-6E3D-AA4B-A7C8-B9DF801C088F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2527" y="4846550"/>
            <a:ext cx="3705144" cy="79619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925513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8FB5-7D48-BA38-919A-EDF48384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076E8-BD69-93AD-0C72-A13B887B4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4838" cy="2703654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Metamorphic Relation (MR1)</a:t>
            </a:r>
            <a:endParaRPr lang="en-US"/>
          </a:p>
          <a:p>
            <a:pPr marL="457200" lvl="1" indent="0">
              <a:lnSpc>
                <a:spcPct val="112999"/>
              </a:lnSpc>
              <a:buNone/>
            </a:pPr>
            <a:r>
              <a:rPr lang="en-US">
                <a:ea typeface="+mn-lt"/>
                <a:cs typeface="+mn-lt"/>
              </a:rPr>
              <a:t>If two queries express </a:t>
            </a:r>
            <a:r>
              <a:rPr lang="en-US" b="1">
                <a:ea typeface="+mn-lt"/>
                <a:cs typeface="+mn-lt"/>
              </a:rPr>
              <a:t>similar apartment requirements</a:t>
            </a:r>
            <a:r>
              <a:rPr lang="en-US">
                <a:ea typeface="+mn-lt"/>
                <a:cs typeface="+mn-lt"/>
              </a:rPr>
              <a:t>, the results should follow a </a:t>
            </a:r>
            <a:r>
              <a:rPr lang="en-US" b="1">
                <a:ea typeface="+mn-lt"/>
                <a:cs typeface="+mn-lt"/>
              </a:rPr>
              <a:t>logical relationship based on the filter constraints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新細明體"/>
              <a:cs typeface="+mn-lt"/>
            </a:endParaRPr>
          </a:p>
          <a:p>
            <a:pPr marL="457200" lvl="1" indent="0">
              <a:lnSpc>
                <a:spcPct val="112999"/>
              </a:lnSpc>
              <a:buNone/>
            </a:pPr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78413-5557-3539-C960-F7C492569B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6265AB54-5A23-44F5-A47B-06A0F33C00D2}" type="slidenum">
              <a:rPr lang="en-GB" altLang="zh-TW"/>
              <a:pPr>
                <a:defRPr/>
              </a:pPr>
              <a:t>40</a:t>
            </a:fld>
            <a:endParaRPr lang="en-GB" altLang="zh-TW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FB5F8C-24F1-4259-AC71-E7A634ED6CD4}"/>
              </a:ext>
            </a:extLst>
          </p:cNvPr>
          <p:cNvSpPr txBox="1">
            <a:spLocks/>
          </p:cNvSpPr>
          <p:nvPr/>
        </p:nvSpPr>
        <p:spPr bwMode="auto">
          <a:xfrm>
            <a:off x="455271" y="3881378"/>
            <a:ext cx="8224838" cy="2703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38138" indent="-338138" algn="l" defTabSz="449263" rtl="0" eaLnBrk="0" fontAlgn="base" hangingPunct="0">
              <a:lnSpc>
                <a:spcPct val="11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8188" indent="-280988" algn="l" defTabSz="449263" rtl="0" eaLnBrk="0" fontAlgn="base" hangingPunct="0">
              <a:lnSpc>
                <a:spcPct val="11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defTabSz="449263" rtl="0" eaLnBrk="0" fontAlgn="base" hangingPunct="0">
              <a:lnSpc>
                <a:spcPct val="11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defTabSz="449263" rtl="0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defTabSz="449263" rtl="0" eaLnBrk="0" fontAlgn="base" hangingPunct="0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defTabSz="449263" rtl="0" fontAlgn="base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defTabSz="449263" rtl="0" fontAlgn="base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defTabSz="449263" rtl="0" fontAlgn="base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defTabSz="449263" rtl="0" fontAlgn="base">
              <a:lnSpc>
                <a:spcPct val="11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2999"/>
              </a:lnSpc>
              <a:buNone/>
            </a:pPr>
            <a:r>
              <a:rPr lang="en-US" kern="0">
                <a:ea typeface="+mn-lt"/>
                <a:cs typeface="+mn-lt"/>
              </a:rPr>
              <a:t>Expected relation:</a:t>
            </a:r>
          </a:p>
          <a:p>
            <a:pPr marL="0" indent="0">
              <a:lnSpc>
                <a:spcPct val="112999"/>
              </a:lnSpc>
              <a:buNone/>
            </a:pPr>
            <a:endParaRPr lang="en-US" kern="0">
              <a:cs typeface="Arial"/>
            </a:endParaRPr>
          </a:p>
          <a:p>
            <a:pPr marL="0" indent="0">
              <a:lnSpc>
                <a:spcPct val="112999"/>
              </a:lnSpc>
              <a:buNone/>
            </a:pPr>
            <a:endParaRPr lang="en-US" kern="0"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5B19E-11A2-8237-CEEC-DE266E4111AC}"/>
              </a:ext>
            </a:extLst>
          </p:cNvPr>
          <p:cNvSpPr/>
          <p:nvPr/>
        </p:nvSpPr>
        <p:spPr bwMode="auto">
          <a:xfrm>
            <a:off x="893179" y="4544027"/>
            <a:ext cx="7309411" cy="914399"/>
          </a:xfrm>
          <a:custGeom>
            <a:avLst/>
            <a:gdLst>
              <a:gd name="csX0" fmla="*/ 0 w 7309411"/>
              <a:gd name="csY0" fmla="*/ 0 h 914399"/>
              <a:gd name="csX1" fmla="*/ 591398 w 7309411"/>
              <a:gd name="csY1" fmla="*/ 0 h 914399"/>
              <a:gd name="csX2" fmla="*/ 1036607 w 7309411"/>
              <a:gd name="csY2" fmla="*/ 0 h 914399"/>
              <a:gd name="csX3" fmla="*/ 1701099 w 7309411"/>
              <a:gd name="csY3" fmla="*/ 0 h 914399"/>
              <a:gd name="csX4" fmla="*/ 2219403 w 7309411"/>
              <a:gd name="csY4" fmla="*/ 0 h 914399"/>
              <a:gd name="csX5" fmla="*/ 2664613 w 7309411"/>
              <a:gd name="csY5" fmla="*/ 0 h 914399"/>
              <a:gd name="csX6" fmla="*/ 3109822 w 7309411"/>
              <a:gd name="csY6" fmla="*/ 0 h 914399"/>
              <a:gd name="csX7" fmla="*/ 3920502 w 7309411"/>
              <a:gd name="csY7" fmla="*/ 0 h 914399"/>
              <a:gd name="csX8" fmla="*/ 4438806 w 7309411"/>
              <a:gd name="csY8" fmla="*/ 0 h 914399"/>
              <a:gd name="csX9" fmla="*/ 4884016 w 7309411"/>
              <a:gd name="csY9" fmla="*/ 0 h 914399"/>
              <a:gd name="csX10" fmla="*/ 5402319 w 7309411"/>
              <a:gd name="csY10" fmla="*/ 0 h 914399"/>
              <a:gd name="csX11" fmla="*/ 5993717 w 7309411"/>
              <a:gd name="csY11" fmla="*/ 0 h 914399"/>
              <a:gd name="csX12" fmla="*/ 6731303 w 7309411"/>
              <a:gd name="csY12" fmla="*/ 0 h 914399"/>
              <a:gd name="csX13" fmla="*/ 7309411 w 7309411"/>
              <a:gd name="csY13" fmla="*/ 0 h 914399"/>
              <a:gd name="csX14" fmla="*/ 7309411 w 7309411"/>
              <a:gd name="csY14" fmla="*/ 448056 h 914399"/>
              <a:gd name="csX15" fmla="*/ 7309411 w 7309411"/>
              <a:gd name="csY15" fmla="*/ 914399 h 914399"/>
              <a:gd name="csX16" fmla="*/ 6864201 w 7309411"/>
              <a:gd name="csY16" fmla="*/ 914399 h 914399"/>
              <a:gd name="csX17" fmla="*/ 6053521 w 7309411"/>
              <a:gd name="csY17" fmla="*/ 914399 h 914399"/>
              <a:gd name="csX18" fmla="*/ 5535218 w 7309411"/>
              <a:gd name="csY18" fmla="*/ 914399 h 914399"/>
              <a:gd name="csX19" fmla="*/ 4943820 w 7309411"/>
              <a:gd name="csY19" fmla="*/ 914399 h 914399"/>
              <a:gd name="csX20" fmla="*/ 4498610 w 7309411"/>
              <a:gd name="csY20" fmla="*/ 914399 h 914399"/>
              <a:gd name="csX21" fmla="*/ 3761024 w 7309411"/>
              <a:gd name="csY21" fmla="*/ 914399 h 914399"/>
              <a:gd name="csX22" fmla="*/ 3023438 w 7309411"/>
              <a:gd name="csY22" fmla="*/ 914399 h 914399"/>
              <a:gd name="csX23" fmla="*/ 2358946 w 7309411"/>
              <a:gd name="csY23" fmla="*/ 914399 h 914399"/>
              <a:gd name="csX24" fmla="*/ 1840643 w 7309411"/>
              <a:gd name="csY24" fmla="*/ 914399 h 914399"/>
              <a:gd name="csX25" fmla="*/ 1103057 w 7309411"/>
              <a:gd name="csY25" fmla="*/ 914399 h 914399"/>
              <a:gd name="csX26" fmla="*/ 0 w 7309411"/>
              <a:gd name="csY26" fmla="*/ 914399 h 914399"/>
              <a:gd name="csX27" fmla="*/ 0 w 7309411"/>
              <a:gd name="csY27" fmla="*/ 438912 h 914399"/>
              <a:gd name="csX28" fmla="*/ 0 w 7309411"/>
              <a:gd name="csY28" fmla="*/ 0 h 914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309411" h="914399" fill="none" extrusionOk="0">
                <a:moveTo>
                  <a:pt x="0" y="0"/>
                </a:moveTo>
                <a:cubicBezTo>
                  <a:pt x="182566" y="20697"/>
                  <a:pt x="301248" y="-23248"/>
                  <a:pt x="591398" y="0"/>
                </a:cubicBezTo>
                <a:cubicBezTo>
                  <a:pt x="881548" y="23248"/>
                  <a:pt x="918622" y="12876"/>
                  <a:pt x="1036607" y="0"/>
                </a:cubicBezTo>
                <a:cubicBezTo>
                  <a:pt x="1154592" y="-12876"/>
                  <a:pt x="1504086" y="19275"/>
                  <a:pt x="1701099" y="0"/>
                </a:cubicBezTo>
                <a:cubicBezTo>
                  <a:pt x="1898112" y="-19275"/>
                  <a:pt x="2038124" y="9690"/>
                  <a:pt x="2219403" y="0"/>
                </a:cubicBezTo>
                <a:cubicBezTo>
                  <a:pt x="2400682" y="-9690"/>
                  <a:pt x="2493419" y="18206"/>
                  <a:pt x="2664613" y="0"/>
                </a:cubicBezTo>
                <a:cubicBezTo>
                  <a:pt x="2835807" y="-18206"/>
                  <a:pt x="3006878" y="-3476"/>
                  <a:pt x="3109822" y="0"/>
                </a:cubicBezTo>
                <a:cubicBezTo>
                  <a:pt x="3212766" y="3476"/>
                  <a:pt x="3736202" y="-25080"/>
                  <a:pt x="3920502" y="0"/>
                </a:cubicBezTo>
                <a:cubicBezTo>
                  <a:pt x="4104802" y="25080"/>
                  <a:pt x="4273457" y="-3967"/>
                  <a:pt x="4438806" y="0"/>
                </a:cubicBezTo>
                <a:cubicBezTo>
                  <a:pt x="4604155" y="3967"/>
                  <a:pt x="4793716" y="-6568"/>
                  <a:pt x="4884016" y="0"/>
                </a:cubicBezTo>
                <a:cubicBezTo>
                  <a:pt x="4974316" y="6568"/>
                  <a:pt x="5264283" y="-13754"/>
                  <a:pt x="5402319" y="0"/>
                </a:cubicBezTo>
                <a:cubicBezTo>
                  <a:pt x="5540355" y="13754"/>
                  <a:pt x="5806355" y="12936"/>
                  <a:pt x="5993717" y="0"/>
                </a:cubicBezTo>
                <a:cubicBezTo>
                  <a:pt x="6181079" y="-12936"/>
                  <a:pt x="6434735" y="-7750"/>
                  <a:pt x="6731303" y="0"/>
                </a:cubicBezTo>
                <a:cubicBezTo>
                  <a:pt x="7027871" y="7750"/>
                  <a:pt x="7134842" y="-23796"/>
                  <a:pt x="7309411" y="0"/>
                </a:cubicBezTo>
                <a:cubicBezTo>
                  <a:pt x="7294932" y="145437"/>
                  <a:pt x="7296575" y="243762"/>
                  <a:pt x="7309411" y="448056"/>
                </a:cubicBezTo>
                <a:cubicBezTo>
                  <a:pt x="7322247" y="652350"/>
                  <a:pt x="7332649" y="812758"/>
                  <a:pt x="7309411" y="914399"/>
                </a:cubicBezTo>
                <a:cubicBezTo>
                  <a:pt x="7216590" y="895359"/>
                  <a:pt x="6964749" y="893682"/>
                  <a:pt x="6864201" y="914399"/>
                </a:cubicBezTo>
                <a:cubicBezTo>
                  <a:pt x="6763653" y="935117"/>
                  <a:pt x="6223551" y="945981"/>
                  <a:pt x="6053521" y="914399"/>
                </a:cubicBezTo>
                <a:cubicBezTo>
                  <a:pt x="5883491" y="882817"/>
                  <a:pt x="5656192" y="911664"/>
                  <a:pt x="5535218" y="914399"/>
                </a:cubicBezTo>
                <a:cubicBezTo>
                  <a:pt x="5414244" y="917134"/>
                  <a:pt x="5171802" y="916319"/>
                  <a:pt x="4943820" y="914399"/>
                </a:cubicBezTo>
                <a:cubicBezTo>
                  <a:pt x="4715838" y="912479"/>
                  <a:pt x="4708700" y="913482"/>
                  <a:pt x="4498610" y="914399"/>
                </a:cubicBezTo>
                <a:cubicBezTo>
                  <a:pt x="4288520" y="915317"/>
                  <a:pt x="4069582" y="895451"/>
                  <a:pt x="3761024" y="914399"/>
                </a:cubicBezTo>
                <a:cubicBezTo>
                  <a:pt x="3452466" y="933347"/>
                  <a:pt x="3331140" y="908900"/>
                  <a:pt x="3023438" y="914399"/>
                </a:cubicBezTo>
                <a:cubicBezTo>
                  <a:pt x="2715736" y="919898"/>
                  <a:pt x="2526732" y="882239"/>
                  <a:pt x="2358946" y="914399"/>
                </a:cubicBezTo>
                <a:cubicBezTo>
                  <a:pt x="2191160" y="946559"/>
                  <a:pt x="2050636" y="906922"/>
                  <a:pt x="1840643" y="914399"/>
                </a:cubicBezTo>
                <a:cubicBezTo>
                  <a:pt x="1630650" y="921876"/>
                  <a:pt x="1341872" y="933648"/>
                  <a:pt x="1103057" y="914399"/>
                </a:cubicBezTo>
                <a:cubicBezTo>
                  <a:pt x="864242" y="895150"/>
                  <a:pt x="469727" y="929745"/>
                  <a:pt x="0" y="914399"/>
                </a:cubicBezTo>
                <a:cubicBezTo>
                  <a:pt x="-19070" y="767777"/>
                  <a:pt x="-20989" y="664998"/>
                  <a:pt x="0" y="438912"/>
                </a:cubicBezTo>
                <a:cubicBezTo>
                  <a:pt x="20989" y="212826"/>
                  <a:pt x="-3026" y="132773"/>
                  <a:pt x="0" y="0"/>
                </a:cubicBezTo>
                <a:close/>
              </a:path>
              <a:path w="7309411" h="914399" stroke="0" extrusionOk="0">
                <a:moveTo>
                  <a:pt x="0" y="0"/>
                </a:moveTo>
                <a:cubicBezTo>
                  <a:pt x="284394" y="11935"/>
                  <a:pt x="367077" y="25652"/>
                  <a:pt x="591398" y="0"/>
                </a:cubicBezTo>
                <a:cubicBezTo>
                  <a:pt x="815719" y="-25652"/>
                  <a:pt x="975066" y="7949"/>
                  <a:pt x="1109701" y="0"/>
                </a:cubicBezTo>
                <a:cubicBezTo>
                  <a:pt x="1244336" y="-7949"/>
                  <a:pt x="1420636" y="-24516"/>
                  <a:pt x="1628005" y="0"/>
                </a:cubicBezTo>
                <a:cubicBezTo>
                  <a:pt x="1835374" y="24516"/>
                  <a:pt x="1873800" y="-3670"/>
                  <a:pt x="2073215" y="0"/>
                </a:cubicBezTo>
                <a:cubicBezTo>
                  <a:pt x="2272630" y="3670"/>
                  <a:pt x="2339947" y="-10424"/>
                  <a:pt x="2518424" y="0"/>
                </a:cubicBezTo>
                <a:cubicBezTo>
                  <a:pt x="2696901" y="10424"/>
                  <a:pt x="2873016" y="14718"/>
                  <a:pt x="2963634" y="0"/>
                </a:cubicBezTo>
                <a:cubicBezTo>
                  <a:pt x="3054252" y="-14718"/>
                  <a:pt x="3426872" y="-5783"/>
                  <a:pt x="3701220" y="0"/>
                </a:cubicBezTo>
                <a:cubicBezTo>
                  <a:pt x="3975568" y="5783"/>
                  <a:pt x="3923864" y="20663"/>
                  <a:pt x="4146430" y="0"/>
                </a:cubicBezTo>
                <a:cubicBezTo>
                  <a:pt x="4368996" y="-20663"/>
                  <a:pt x="4498553" y="-4969"/>
                  <a:pt x="4664733" y="0"/>
                </a:cubicBezTo>
                <a:cubicBezTo>
                  <a:pt x="4830913" y="4969"/>
                  <a:pt x="4962653" y="6531"/>
                  <a:pt x="5183037" y="0"/>
                </a:cubicBezTo>
                <a:cubicBezTo>
                  <a:pt x="5403421" y="-6531"/>
                  <a:pt x="5822354" y="-2769"/>
                  <a:pt x="5993717" y="0"/>
                </a:cubicBezTo>
                <a:cubicBezTo>
                  <a:pt x="6165080" y="2769"/>
                  <a:pt x="6298636" y="-20377"/>
                  <a:pt x="6438927" y="0"/>
                </a:cubicBezTo>
                <a:cubicBezTo>
                  <a:pt x="6579218" y="20377"/>
                  <a:pt x="7040310" y="4935"/>
                  <a:pt x="7309411" y="0"/>
                </a:cubicBezTo>
                <a:cubicBezTo>
                  <a:pt x="7328500" y="145738"/>
                  <a:pt x="7296385" y="314022"/>
                  <a:pt x="7309411" y="475487"/>
                </a:cubicBezTo>
                <a:cubicBezTo>
                  <a:pt x="7322437" y="636952"/>
                  <a:pt x="7329475" y="697379"/>
                  <a:pt x="7309411" y="914399"/>
                </a:cubicBezTo>
                <a:cubicBezTo>
                  <a:pt x="7085457" y="905049"/>
                  <a:pt x="6886662" y="911444"/>
                  <a:pt x="6571825" y="914399"/>
                </a:cubicBezTo>
                <a:cubicBezTo>
                  <a:pt x="6256988" y="917354"/>
                  <a:pt x="6024872" y="880628"/>
                  <a:pt x="5761145" y="914399"/>
                </a:cubicBezTo>
                <a:cubicBezTo>
                  <a:pt x="5497418" y="948170"/>
                  <a:pt x="5358135" y="937210"/>
                  <a:pt x="5242841" y="914399"/>
                </a:cubicBezTo>
                <a:cubicBezTo>
                  <a:pt x="5127547" y="891588"/>
                  <a:pt x="4858184" y="939816"/>
                  <a:pt x="4651443" y="914399"/>
                </a:cubicBezTo>
                <a:cubicBezTo>
                  <a:pt x="4444702" y="888982"/>
                  <a:pt x="4304118" y="932021"/>
                  <a:pt x="3986951" y="914399"/>
                </a:cubicBezTo>
                <a:cubicBezTo>
                  <a:pt x="3669784" y="896777"/>
                  <a:pt x="3584062" y="898210"/>
                  <a:pt x="3395554" y="914399"/>
                </a:cubicBezTo>
                <a:cubicBezTo>
                  <a:pt x="3207046" y="930588"/>
                  <a:pt x="3056853" y="921645"/>
                  <a:pt x="2950344" y="914399"/>
                </a:cubicBezTo>
                <a:cubicBezTo>
                  <a:pt x="2843835" y="907154"/>
                  <a:pt x="2442653" y="931937"/>
                  <a:pt x="2285852" y="914399"/>
                </a:cubicBezTo>
                <a:cubicBezTo>
                  <a:pt x="2129051" y="896861"/>
                  <a:pt x="1923034" y="900492"/>
                  <a:pt x="1621360" y="914399"/>
                </a:cubicBezTo>
                <a:cubicBezTo>
                  <a:pt x="1319686" y="928306"/>
                  <a:pt x="1059702" y="892628"/>
                  <a:pt x="883774" y="914399"/>
                </a:cubicBezTo>
                <a:cubicBezTo>
                  <a:pt x="707846" y="936170"/>
                  <a:pt x="352157" y="894195"/>
                  <a:pt x="0" y="914399"/>
                </a:cubicBezTo>
                <a:cubicBezTo>
                  <a:pt x="-3212" y="716005"/>
                  <a:pt x="-10866" y="573765"/>
                  <a:pt x="0" y="475487"/>
                </a:cubicBezTo>
                <a:cubicBezTo>
                  <a:pt x="10866" y="377209"/>
                  <a:pt x="-13848" y="22516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499211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3B5A52-7C4D-EFD2-C132-8AA208B66667}"/>
              </a:ext>
            </a:extLst>
          </p:cNvPr>
          <p:cNvSpPr txBox="1"/>
          <p:nvPr/>
        </p:nvSpPr>
        <p:spPr>
          <a:xfrm>
            <a:off x="1147822" y="4774558"/>
            <a:ext cx="73334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Arial"/>
                <a:ea typeface="新細明體"/>
                <a:cs typeface="Arial"/>
              </a:rPr>
              <a:t>Results(price ≤ $1000) ⊆ Results(price ≤ $10,000)</a:t>
            </a:r>
          </a:p>
        </p:txBody>
      </p:sp>
    </p:spTree>
    <p:extLst>
      <p:ext uri="{BB962C8B-B14F-4D97-AF65-F5344CB8AC3E}">
        <p14:creationId xmlns:p14="http://schemas.microsoft.com/office/powerpoint/2010/main" val="106773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A9B8-9519-B5DF-A805-9D2AFA3E4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6060E-7ACA-C454-8CB1-68ACE393E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Criticisms welcome! </a:t>
            </a:r>
          </a:p>
        </p:txBody>
      </p:sp>
    </p:spTree>
    <p:extLst>
      <p:ext uri="{BB962C8B-B14F-4D97-AF65-F5344CB8AC3E}">
        <p14:creationId xmlns:p14="http://schemas.microsoft.com/office/powerpoint/2010/main" val="13857699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11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11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新細明體" pitchFamily="18" charset="-12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/>
            </a:solidFill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1403</Words>
  <Application>Microsoft Macintosh PowerPoint</Application>
  <PresentationFormat>On-screen Show (4:3)</PresentationFormat>
  <Paragraphs>224</Paragraphs>
  <Slides>41</Slides>
  <Notes>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新細明體</vt:lpstr>
      <vt:lpstr>Aptos</vt:lpstr>
      <vt:lpstr>Arial</vt:lpstr>
      <vt:lpstr>Calibri</vt:lpstr>
      <vt:lpstr>Cambria Math</vt:lpstr>
      <vt:lpstr>Times New Roman</vt:lpstr>
      <vt:lpstr>Default Design</vt:lpstr>
      <vt:lpstr>Testing Language Mediated GUIs</vt:lpstr>
      <vt:lpstr>PowerPoint Presentation</vt:lpstr>
      <vt:lpstr>Progress Directions</vt:lpstr>
      <vt:lpstr>PowerPoint Presentation</vt:lpstr>
      <vt:lpstr>Testing Harness</vt:lpstr>
      <vt:lpstr>Feb 2026</vt:lpstr>
      <vt:lpstr>Testing Language Mediated GUIs</vt:lpstr>
      <vt:lpstr>PowerPoint Presentation</vt:lpstr>
      <vt:lpstr>What is an E2E Test</vt:lpstr>
      <vt:lpstr>Testing Flow</vt:lpstr>
      <vt:lpstr>Testing Components</vt:lpstr>
      <vt:lpstr>End-to-End Tests</vt:lpstr>
      <vt:lpstr>End to End Tests</vt:lpstr>
      <vt:lpstr>Automated E2E Testing</vt:lpstr>
      <vt:lpstr>E2E Testing,  Cornerstone papers -- Over the years! (Citation Gecko)</vt:lpstr>
      <vt:lpstr>Seminal E2E Papers and their connections</vt:lpstr>
      <vt:lpstr>Some approaches also use LLMs!</vt:lpstr>
      <vt:lpstr>Bottlenecks - Direct Manipulation</vt:lpstr>
      <vt:lpstr>Bottlenecks - Direct Manipulation</vt:lpstr>
      <vt:lpstr>LAGUI Paradigm</vt:lpstr>
      <vt:lpstr>Transition Semantics</vt:lpstr>
      <vt:lpstr>Project Motivation</vt:lpstr>
      <vt:lpstr>Challenges in Testing LNGUIs</vt:lpstr>
      <vt:lpstr>Challenges in Testing LNGUIs</vt:lpstr>
      <vt:lpstr>Modalities of Failure</vt:lpstr>
      <vt:lpstr>Fault Model</vt:lpstr>
      <vt:lpstr>Synonym Blindness </vt:lpstr>
      <vt:lpstr>Constraint Leakage</vt:lpstr>
      <vt:lpstr>Order Sensitivity</vt:lpstr>
      <vt:lpstr>Context Amnesia</vt:lpstr>
      <vt:lpstr>Metamorphic Testing[5]</vt:lpstr>
      <vt:lpstr>Metamorphic Relation</vt:lpstr>
      <vt:lpstr>Intuitively</vt:lpstr>
      <vt:lpstr>Some Relations</vt:lpstr>
      <vt:lpstr>Fault Taxonomy</vt:lpstr>
      <vt:lpstr>Timeline - Gantt Chart</vt:lpstr>
      <vt:lpstr>Expected Outcome</vt:lpstr>
      <vt:lpstr>Expected Outcome</vt:lpstr>
      <vt:lpstr>Apartment.com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Ming</dc:creator>
  <cp:keywords/>
  <dc:description/>
  <cp:lastModifiedBy>Ninad Chaudhari</cp:lastModifiedBy>
  <cp:revision>2</cp:revision>
  <cp:lastPrinted>2026-03-05T09:24:38Z</cp:lastPrinted>
  <dcterms:modified xsi:type="dcterms:W3CDTF">2026-04-09T08:14:36Z</dcterms:modified>
  <cp:category/>
</cp:coreProperties>
</file>